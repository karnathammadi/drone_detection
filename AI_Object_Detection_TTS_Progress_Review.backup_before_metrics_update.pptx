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59" d="100"/>
          <a:sy n="159" d="100"/>
        </p:scale>
        <p:origin x="-404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4AEAF-C75F-4524-B437-8797E69178DA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9139D-9064-40AF-AEC3-07FAC98CE1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project. It is a web based security surveillance system for detecting UAV and drone related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main system in simple words. This is not Android; it is Flask web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problem. Automatic detection helps security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data was collected and arranged. Use simple wording and mention train and validation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preprocessing: folder structure, labels, image size and augmentation.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class distribution. Mention that side-by-side rotor has fewer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sample image for each class from the actual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four classes and the difference between object detection and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YOLOv8 was chosen in simple student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model comparison is based on project requirement and commonly used object detection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parameters were selected. Use training curves and F1 curve as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hardware information. Clarify that GPU is available in the system, but the current Python Torch build is CPU-only.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training setup from args.yaml and train.py.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final epoch metrics in simple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training convergence from the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 curve and class-wise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confidence threshold selection from F1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precision and recall to explain threshold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Flask application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voice and siren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saving frame and sending email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complete workflow from upload to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completed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limitations and next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presentation with main achievement and next application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56A0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89888"/>
            <a:ext cx="10789920" cy="55399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30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AI-Based UAV Object Detection for Security Surveillance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75320" y="292608"/>
            <a:ext cx="30632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Security Surveillance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4008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This project detects UAV and drone type objects for security </a:t>
            </a:r>
            <a:r>
              <a:rPr>
                <a:latin typeface="Times New Roman" pitchFamily="18" charset="0"/>
                <a:cs typeface="Times New Roman" pitchFamily="18" charset="0"/>
              </a:rPr>
              <a:t>purpose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User can upload an image or recorded video in Flask web </a:t>
            </a:r>
            <a:r>
              <a:rPr>
                <a:latin typeface="Times New Roman" pitchFamily="18" charset="0"/>
                <a:cs typeface="Times New Roman" pitchFamily="18" charset="0"/>
              </a:rPr>
              <a:t>application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 model detects object and shows bounding box with object </a:t>
            </a:r>
            <a:r>
              <a:rPr>
                <a:latin typeface="Times New Roman" pitchFamily="18" charset="0"/>
                <a:cs typeface="Times New Roman" pitchFamily="18" charset="0"/>
              </a:rPr>
              <a:t>name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If object is detected, system gives voice output and siren </a:t>
            </a:r>
            <a:r>
              <a:rPr>
                <a:latin typeface="Times New Roman" pitchFamily="18" charset="0"/>
                <a:cs typeface="Times New Roman" pitchFamily="18" charset="0"/>
              </a:rPr>
              <a:t>sound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Detected frame is saved with date and time and sent through email alert.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32588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7848" y="141732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167335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Flask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48716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27848" y="257860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8" y="2834640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Image / 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639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27848" y="3730752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98678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Voice + Siren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49464"/>
            <a:ext cx="64008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Drones and UAVs may enter restricted area without </a:t>
            </a:r>
            <a:r>
              <a:rPr>
                <a:latin typeface="Times New Roman" pitchFamily="18" charset="0"/>
                <a:cs typeface="Times New Roman" pitchFamily="18" charset="0"/>
              </a:rPr>
              <a:t>permission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Manual checking of camera video takes more </a:t>
            </a:r>
            <a:r>
              <a:rPr>
                <a:latin typeface="Times New Roman" pitchFamily="18" charset="0"/>
                <a:cs typeface="Times New Roman" pitchFamily="18" charset="0"/>
              </a:rPr>
              <a:t>time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Small flying object can be missed by security </a:t>
            </a:r>
            <a:r>
              <a:rPr>
                <a:latin typeface="Times New Roman" pitchFamily="18" charset="0"/>
                <a:cs typeface="Times New Roman" pitchFamily="18" charset="0"/>
              </a:rPr>
              <a:t>person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Automatic detection and alert can help to take quick </a:t>
            </a:r>
            <a:r>
              <a:rPr>
                <a:latin typeface="Times New Roman" pitchFamily="18" charset="0"/>
                <a:cs typeface="Times New Roman" pitchFamily="18" charset="0"/>
              </a:rPr>
              <a:t>action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System should detect object and immediately send sound and email alert.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 Collection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Images were collected for UAV and rotor based flying </a:t>
            </a:r>
            <a:r>
              <a:rPr>
                <a:latin typeface="Times New Roman" pitchFamily="18" charset="0"/>
                <a:cs typeface="Times New Roman" pitchFamily="18" charset="0"/>
              </a:rPr>
              <a:t>objects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contains different object sizes, camera views and </a:t>
            </a:r>
            <a:r>
              <a:rPr>
                <a:latin typeface="Times New Roman" pitchFamily="18" charset="0"/>
                <a:cs typeface="Times New Roman" pitchFamily="18" charset="0"/>
              </a:rPr>
              <a:t>backgrounds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Some images are from prepared drone datasets and collected image </a:t>
            </a:r>
            <a:r>
              <a:rPr>
                <a:latin typeface="Times New Roman" pitchFamily="18" charset="0"/>
                <a:cs typeface="Times New Roman" pitchFamily="18" charset="0"/>
              </a:rPr>
              <a:t>sources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Images were divided into training and validation </a:t>
            </a:r>
            <a:r>
              <a:rPr>
                <a:latin typeface="Times New Roman" pitchFamily="18" charset="0"/>
                <a:cs typeface="Times New Roman" pitchFamily="18" charset="0"/>
              </a:rPr>
              <a:t>folders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Final dataset has 13,661 training images and 2,637 validation </a:t>
            </a:r>
            <a:r>
              <a:rPr>
                <a:latin typeface="Times New Roman" pitchFamily="18" charset="0"/>
                <a:cs typeface="Times New Roman" pitchFamily="18" charset="0"/>
              </a:rPr>
              <a:t>images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Each object was marked with bounding box and class name.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02167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Train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7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13,661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2167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Val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2,637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7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Images were checked and arranged in YOLO folder </a:t>
            </a:r>
            <a:r>
              <a:rPr>
                <a:latin typeface="Times New Roman" pitchFamily="18" charset="0"/>
                <a:cs typeface="Times New Roman" pitchFamily="18" charset="0"/>
              </a:rPr>
              <a:t>format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Annotation labels were prepared in YOLO text </a:t>
            </a:r>
            <a:r>
              <a:rPr>
                <a:latin typeface="Times New Roman" pitchFamily="18" charset="0"/>
                <a:cs typeface="Times New Roman" pitchFamily="18" charset="0"/>
              </a:rPr>
              <a:t>format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 size used for training is 640 x </a:t>
            </a:r>
            <a:r>
              <a:rPr>
                <a:latin typeface="Times New Roman" pitchFamily="18" charset="0"/>
                <a:cs typeface="Times New Roman" pitchFamily="18" charset="0"/>
              </a:rPr>
              <a:t>640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 training applies resizing and data augmentation </a:t>
            </a:r>
            <a:r>
              <a:rPr>
                <a:latin typeface="Times New Roman" pitchFamily="18" charset="0"/>
                <a:cs typeface="Times New Roman" pitchFamily="18" charset="0"/>
              </a:rPr>
              <a:t>internally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Augmentation helps model learn different positions and object </a:t>
            </a:r>
            <a:r>
              <a:rPr>
                <a:latin typeface="Times New Roman" pitchFamily="18" charset="0"/>
                <a:cs typeface="Times New Roman" pitchFamily="18" charset="0"/>
              </a:rPr>
              <a:t>scales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YAML file contains train path, validation path and class </a:t>
            </a:r>
            <a:r>
              <a:rPr>
                <a:latin typeface="Times New Roman" pitchFamily="18" charset="0"/>
                <a:cs typeface="Times New Roman" pitchFamily="18" charset="0"/>
              </a:rPr>
              <a:t>names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02167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7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YOLO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2167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Image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640 x 640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7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Bounding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Dataset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170432"/>
          <a:ext cx="5303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Class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Train Objects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Val Objects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UAV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13,025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2,584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side-by-side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216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single 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tandem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620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234440"/>
            <a:ext cx="466344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UAV class has more samples than other </a:t>
            </a:r>
            <a:r>
              <a:rPr>
                <a:latin typeface="Times New Roman" pitchFamily="18" charset="0"/>
                <a:cs typeface="Times New Roman" pitchFamily="18" charset="0"/>
              </a:rPr>
              <a:t>classes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side-by-side rotor has less samples, so it needs more </a:t>
            </a:r>
            <a:r>
              <a:rPr>
                <a:latin typeface="Times New Roman" pitchFamily="18" charset="0"/>
                <a:cs typeface="Times New Roman" pitchFamily="18" charset="0"/>
              </a:rPr>
              <a:t>data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Class count helps to understand model </a:t>
            </a:r>
            <a:r>
              <a:rPr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More balanced data can improve future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Sample Images for Each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class_0_UA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2148840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UAV</a:t>
            </a:r>
          </a:p>
        </p:txBody>
      </p:sp>
      <p:pic>
        <p:nvPicPr>
          <p:cNvPr id="6" name="Picture 5" descr="class_1_side_by_side_ro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143000"/>
            <a:ext cx="214884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6616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side-by-side rotor</a:t>
            </a:r>
          </a:p>
        </p:txBody>
      </p:sp>
      <p:pic>
        <p:nvPicPr>
          <p:cNvPr id="8" name="Picture 7" descr="class_2_single_roto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43000"/>
            <a:ext cx="214884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single rotor</a:t>
            </a:r>
          </a:p>
        </p:txBody>
      </p:sp>
      <p:pic>
        <p:nvPicPr>
          <p:cNvPr id="10" name="Picture 9" descr="class_3_tandem_roto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143000"/>
            <a:ext cx="2148840" cy="3337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6880" y="4544568"/>
            <a:ext cx="2148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tandem rotor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Object Detection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2588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937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Class Name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UAV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side-by-side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single rotor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tandem rotor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371600"/>
            <a:ext cx="48463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This is object detection, not only </a:t>
            </a:r>
            <a:r>
              <a:rPr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Output gives object name and object </a:t>
            </a:r>
            <a:r>
              <a:rPr>
                <a:latin typeface="Times New Roman" pitchFamily="18" charset="0"/>
                <a:cs typeface="Times New Roman" pitchFamily="18" charset="0"/>
              </a:rPr>
              <a:t>location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Bounding box is drawn around detected </a:t>
            </a:r>
            <a:r>
              <a:rPr>
                <a:latin typeface="Times New Roman" pitchFamily="18" charset="0"/>
                <a:cs typeface="Times New Roman" pitchFamily="18" charset="0"/>
              </a:rPr>
              <a:t>object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Confidence score tells how sure the model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Why YOLOv8 Was Selected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 gives good speed and accuracy for object </a:t>
            </a:r>
            <a:r>
              <a:rPr>
                <a:latin typeface="Times New Roman" pitchFamily="18" charset="0"/>
                <a:cs typeface="Times New Roman" pitchFamily="18" charset="0"/>
              </a:rPr>
              <a:t>detection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can detect objects in image and video </a:t>
            </a:r>
            <a:r>
              <a:rPr>
                <a:latin typeface="Times New Roman" pitchFamily="18" charset="0"/>
                <a:cs typeface="Times New Roman" pitchFamily="18" charset="0"/>
              </a:rPr>
              <a:t>frames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is easy to train with custom YOLO </a:t>
            </a:r>
            <a:r>
              <a:rPr>
                <a:latin typeface="Times New Roman" pitchFamily="18" charset="0"/>
                <a:cs typeface="Times New Roman" pitchFamily="18" charset="0"/>
              </a:rPr>
              <a:t>dataset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gives useful training graphs like mAP, precision, recall and </a:t>
            </a:r>
            <a:r>
              <a:rPr>
                <a:latin typeface="Times New Roman" pitchFamily="18" charset="0"/>
                <a:cs typeface="Times New Roman" pitchFamily="18" charset="0"/>
              </a:rPr>
              <a:t>F1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YOLOv8n is lightweight, so it is suitable for web application </a:t>
            </a:r>
            <a:r>
              <a:rPr>
                <a:latin typeface="Times New Roman" pitchFamily="18" charset="0"/>
                <a:cs typeface="Times New Roman" pitchFamily="18" charset="0"/>
              </a:rPr>
              <a:t>testing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It supports future deployment and model conversion also.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Main Reason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Fast + Accurate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Custom YOLO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Web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Suitable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1430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Faster R-CNN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Good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Slow for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Not selected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SSD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Less accurate for small objects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Not selected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YOLOv5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Fast and simple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Older than YOLOv8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Compared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YOLOv8n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Fast, accurate, easy training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Best for this project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Selected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80560"/>
            <a:ext cx="1024128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Comparison was done based on speed, accuracy and ease of custom </a:t>
            </a:r>
            <a:r>
              <a:rPr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YOLOv8n was selected because it is lightweight and gives good </a:t>
            </a:r>
            <a:r>
              <a:rPr>
                <a:latin typeface="Times New Roman" pitchFamily="18" charset="0"/>
                <a:cs typeface="Times New Roman" pitchFamily="18" charset="0"/>
              </a:rPr>
              <a:t>mAP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For Flask testing, faster prediction is important for video frames.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Best Parameter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44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Selected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Enough training time and graph became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Image size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Common YOLO size and good object detail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Fits available system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~0.38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Best F1 score from F1 curve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YOLO validation default used in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09160"/>
            <a:ext cx="1024128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Parameters were checked using training result graphs and </a:t>
            </a:r>
            <a:r>
              <a:rPr>
                <a:latin typeface="Times New Roman" pitchFamily="18" charset="0"/>
                <a:cs typeface="Times New Roman" pitchFamily="18" charset="0"/>
              </a:rPr>
              <a:t>final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metrics.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Loss became stable and mAP50 reached 0.944 after 100 </a:t>
            </a:r>
            <a:r>
              <a:rPr>
                <a:latin typeface="Times New Roman" pitchFamily="18" charset="0"/>
                <a:cs typeface="Times New Roman" pitchFamily="18" charset="0"/>
              </a:rPr>
              <a:t>epochs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Confidence threshold can be changed after real video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Hardware and Software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078992"/>
          <a:ext cx="10607040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Information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Intel processor, 16 logical cores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GPU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NVIDIA GeForce RTX 2060 SUPER, 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Driver / CUDA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NVIDIA driver 591.86, </a:t>
                      </a:r>
                      <a:r>
                        <a:rPr/>
                        <a:t>CUDA </a:t>
                      </a:r>
                      <a:r>
                        <a:rPr smtClean="0"/>
                        <a:t>13.1</a:t>
                      </a:r>
                      <a:endParaRPr/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rPr smtClean="0"/>
                        <a:t>3.13.12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Ultralytics YOLOv8, Flask, OpenCV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Model Training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69494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Model used: YOLOv8n object detection </a:t>
            </a:r>
            <a:r>
              <a:rPr>
                <a:latin typeface="Times New Roman" pitchFamily="18" charset="0"/>
                <a:cs typeface="Times New Roman" pitchFamily="18" charset="0"/>
              </a:rPr>
              <a:t>model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Epochs: </a:t>
            </a:r>
            <a:r>
              <a:rPr>
                <a:latin typeface="Times New Roman" pitchFamily="18" charset="0"/>
                <a:cs typeface="Times New Roman" pitchFamily="18" charset="0"/>
              </a:rPr>
              <a:t>100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Image size: 640 x </a:t>
            </a:r>
            <a:r>
              <a:rPr>
                <a:latin typeface="Times New Roman" pitchFamily="18" charset="0"/>
                <a:cs typeface="Times New Roman" pitchFamily="18" charset="0"/>
              </a:rPr>
              <a:t>640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Batch size: </a:t>
            </a:r>
            <a:r>
              <a:rPr>
                <a:latin typeface="Times New Roman" pitchFamily="18" charset="0"/>
                <a:cs typeface="Times New Roman" pitchFamily="18" charset="0"/>
              </a:rPr>
              <a:t>8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format: YOLO annotation </a:t>
            </a:r>
            <a:r>
              <a:rPr>
                <a:latin typeface="Times New Roman" pitchFamily="18" charset="0"/>
                <a:cs typeface="Times New Roman" pitchFamily="18" charset="0"/>
              </a:rPr>
              <a:t>format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Training output folder: </a:t>
            </a:r>
            <a:r>
              <a:rPr>
                <a:latin typeface="Times New Roman" pitchFamily="18" charset="0"/>
                <a:cs typeface="Times New Roman" pitchFamily="18" charset="0"/>
              </a:rPr>
              <a:t>runs/detect/custom_yolov8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Trained model will be used inside Flask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10727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0727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YOLOv8n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10727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727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10727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Image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640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Training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00584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43226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456A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0.91865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0.89530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0.94429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mAP50-95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0.71605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Train box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0.7278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Train class loss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0.35988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Train DFL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1.1406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Validation box loss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1.0221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Validation class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0.48993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Validation DFL loss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323C"/>
                          </a:solidFill>
                          <a:latin typeface="Aptos"/>
                        </a:defRPr>
                      </a:pPr>
                      <a:r>
                        <a:t>1.3037</a:t>
                      </a:r>
                    </a:p>
                  </a:txBody>
                  <a:tcPr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34440"/>
            <a:ext cx="457200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Final precision is </a:t>
            </a:r>
            <a:r>
              <a:rPr>
                <a:latin typeface="Times New Roman" pitchFamily="18" charset="0"/>
                <a:cs typeface="Times New Roman" pitchFamily="18" charset="0"/>
              </a:rPr>
              <a:t>0.91865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Final recall is </a:t>
            </a:r>
            <a:r>
              <a:rPr>
                <a:latin typeface="Times New Roman" pitchFamily="18" charset="0"/>
                <a:cs typeface="Times New Roman" pitchFamily="18" charset="0"/>
              </a:rPr>
              <a:t>0.89530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mAP50 reached </a:t>
            </a:r>
            <a:r>
              <a:rPr>
                <a:latin typeface="Times New Roman" pitchFamily="18" charset="0"/>
                <a:cs typeface="Times New Roman" pitchFamily="18" charset="0"/>
              </a:rPr>
              <a:t>0.94429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These values show good detection </a:t>
            </a:r>
            <a:r>
              <a:rPr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Metrics are taken from results.csv.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Training Performance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6720840" cy="4681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43016"/>
            <a:ext cx="672084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Training result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234440"/>
            <a:ext cx="361188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Training losses reduced during </a:t>
            </a:r>
            <a:r>
              <a:rPr>
                <a:latin typeface="Times New Roman" pitchFamily="18" charset="0"/>
                <a:cs typeface="Times New Roman" pitchFamily="18" charset="0"/>
              </a:rPr>
              <a:t>epochs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Validation losses became </a:t>
            </a:r>
            <a:r>
              <a:rPr>
                <a:latin typeface="Times New Roman" pitchFamily="18" charset="0"/>
                <a:cs typeface="Times New Roman" pitchFamily="18" charset="0"/>
              </a:rPr>
              <a:t>stable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Precision and recall </a:t>
            </a:r>
            <a:r>
              <a:rPr>
                <a:latin typeface="Times New Roman" pitchFamily="18" charset="0"/>
                <a:cs typeface="Times New Roman" pitchFamily="18" charset="0"/>
              </a:rPr>
              <a:t>improved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mAP50 and mAP50-95 also </a:t>
            </a:r>
            <a:r>
              <a:rPr>
                <a:latin typeface="Times New Roman" pitchFamily="18" charset="0"/>
                <a:cs typeface="Times New Roman" pitchFamily="18" charset="0"/>
              </a:rPr>
              <a:t>improved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5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Model shows good training after 100 epochs.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Precision-Recall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6692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007608"/>
            <a:ext cx="566928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Precision-recall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188720"/>
            <a:ext cx="4526280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Overall mAP@0.5 is </a:t>
            </a:r>
            <a:r>
              <a:rPr>
                <a:latin typeface="Times New Roman" pitchFamily="18" charset="0"/>
                <a:cs typeface="Times New Roman" pitchFamily="18" charset="0"/>
              </a:rPr>
              <a:t>0.944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UAV AP is </a:t>
            </a:r>
            <a:r>
              <a:rPr>
                <a:latin typeface="Times New Roman" pitchFamily="18" charset="0"/>
                <a:cs typeface="Times New Roman" pitchFamily="18" charset="0"/>
              </a:rPr>
              <a:t>0.958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side-by-side rotor AP is </a:t>
            </a:r>
            <a:r>
              <a:rPr>
                <a:latin typeface="Times New Roman" pitchFamily="18" charset="0"/>
                <a:cs typeface="Times New Roman" pitchFamily="18" charset="0"/>
              </a:rPr>
              <a:t>0.879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single rotor AP is </a:t>
            </a:r>
            <a:r>
              <a:rPr>
                <a:latin typeface="Times New Roman" pitchFamily="18" charset="0"/>
                <a:cs typeface="Times New Roman" pitchFamily="18" charset="0"/>
              </a:rPr>
              <a:t>0.954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tandem rotor AP is </a:t>
            </a:r>
            <a:r>
              <a:rPr>
                <a:latin typeface="Times New Roman" pitchFamily="18" charset="0"/>
                <a:cs typeface="Times New Roman" pitchFamily="18" charset="0"/>
              </a:rPr>
              <a:t>0.987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4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side-by-side rotor needs more improvement.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F1 Confidence Curve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F1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56692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610" y="6057401"/>
            <a:ext cx="566928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F1-confidence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417320"/>
            <a:ext cx="448056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Best F1 score is around </a:t>
            </a:r>
            <a:r>
              <a:rPr>
                <a:latin typeface="Times New Roman" pitchFamily="18" charset="0"/>
                <a:cs typeface="Times New Roman" pitchFamily="18" charset="0"/>
              </a:rPr>
              <a:t>0.91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Best confidence is around </a:t>
            </a:r>
            <a:r>
              <a:rPr>
                <a:latin typeface="Times New Roman" pitchFamily="18" charset="0"/>
                <a:cs typeface="Times New Roman" pitchFamily="18" charset="0"/>
              </a:rPr>
              <a:t>0.38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This value can be used as starting </a:t>
            </a:r>
            <a:r>
              <a:rPr>
                <a:latin typeface="Times New Roman" pitchFamily="18" charset="0"/>
                <a:cs typeface="Times New Roman" pitchFamily="18" charset="0"/>
              </a:rPr>
              <a:t>threshold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F1 score balances precision and recall.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Precision and Recall Curves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P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5257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04688"/>
            <a:ext cx="525780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Precision-confidence curve</a:t>
            </a:r>
          </a:p>
        </p:txBody>
      </p:sp>
      <p:pic>
        <p:nvPicPr>
          <p:cNvPr id="6" name="Picture 5" descr="R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97280"/>
            <a:ext cx="52578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5504688"/>
            <a:ext cx="5257800" cy="23083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0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Recall-confidence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33872"/>
            <a:ext cx="10424160" cy="30777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400" b="0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Higher confidence gives better precision, but very high confidence may reduce recall.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Flask Web Application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694944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Frontend page is used to upload image or recorded </a:t>
            </a:r>
            <a:r>
              <a:rPr>
                <a:latin typeface="Times New Roman" pitchFamily="18" charset="0"/>
                <a:cs typeface="Times New Roman" pitchFamily="18" charset="0"/>
              </a:rPr>
              <a:t>video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Flask backend receives the uploaded </a:t>
            </a:r>
            <a:r>
              <a:rPr>
                <a:latin typeface="Times New Roman" pitchFamily="18" charset="0"/>
                <a:cs typeface="Times New Roman" pitchFamily="18" charset="0"/>
              </a:rPr>
              <a:t>file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 smtClean="0">
                <a:latin typeface="Times New Roman" pitchFamily="18" charset="0"/>
                <a:cs typeface="Times New Roman" pitchFamily="18" charset="0"/>
              </a:rPr>
              <a:t>YOLO </a:t>
            </a:r>
            <a:r>
              <a:rPr>
                <a:latin typeface="Times New Roman" pitchFamily="18" charset="0"/>
                <a:cs typeface="Times New Roman" pitchFamily="18" charset="0"/>
              </a:rPr>
              <a:t>model runs detection on image or video </a:t>
            </a:r>
            <a:r>
              <a:rPr>
                <a:latin typeface="Times New Roman" pitchFamily="18" charset="0"/>
                <a:cs typeface="Times New Roman" pitchFamily="18" charset="0"/>
              </a:rPr>
              <a:t>frames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Output page shows detected object with bounding </a:t>
            </a:r>
            <a:r>
              <a:rPr>
                <a:latin typeface="Times New Roman" pitchFamily="18" charset="0"/>
                <a:cs typeface="Times New Roman" pitchFamily="18" charset="0"/>
              </a:rPr>
              <a:t>box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For video, system checks frame by frame and marks detected frames.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Alert and Voice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Ø"/>
            </a:pP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694944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When an object is detected, the system speaks the object </a:t>
            </a:r>
            <a:r>
              <a:rPr>
                <a:latin typeface="Times New Roman" pitchFamily="18" charset="0"/>
                <a:cs typeface="Times New Roman" pitchFamily="18" charset="0"/>
              </a:rPr>
              <a:t>name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Example voice: UAV </a:t>
            </a:r>
            <a:r>
              <a:rPr>
                <a:latin typeface="Times New Roman" pitchFamily="18" charset="0"/>
                <a:cs typeface="Times New Roman" pitchFamily="18" charset="0"/>
              </a:rPr>
              <a:t>detected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system also plays siren or alert </a:t>
            </a:r>
            <a:r>
              <a:rPr>
                <a:latin typeface="Times New Roman" pitchFamily="18" charset="0"/>
                <a:cs typeface="Times New Roman" pitchFamily="18" charset="0"/>
              </a:rPr>
              <a:t>sound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Voice and siren help security person notice the detection </a:t>
            </a:r>
            <a:r>
              <a:rPr>
                <a:latin typeface="Times New Roman" pitchFamily="18" charset="0"/>
                <a:cs typeface="Times New Roman" pitchFamily="18" charset="0"/>
              </a:rPr>
              <a:t>quickly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Alert should play only when confidence is above selected threshold.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Frame Saving and Email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If object is detected, detected frame is </a:t>
            </a:r>
            <a:r>
              <a:rPr>
                <a:latin typeface="Times New Roman" pitchFamily="18" charset="0"/>
                <a:cs typeface="Times New Roman" pitchFamily="18" charset="0"/>
              </a:rPr>
              <a:t>saved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File name contains date and </a:t>
            </a:r>
            <a:r>
              <a:rPr>
                <a:latin typeface="Times New Roman" pitchFamily="18" charset="0"/>
                <a:cs typeface="Times New Roman" pitchFamily="18" charset="0"/>
              </a:rPr>
              <a:t>time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Saved frame is useful as proof for later </a:t>
            </a:r>
            <a:r>
              <a:rPr>
                <a:latin typeface="Times New Roman" pitchFamily="18" charset="0"/>
                <a:cs typeface="Times New Roman" pitchFamily="18" charset="0"/>
              </a:rPr>
              <a:t>checking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Email alert sends the detected frame to security email </a:t>
            </a:r>
            <a:r>
              <a:rPr>
                <a:latin typeface="Times New Roman" pitchFamily="18" charset="0"/>
                <a:cs typeface="Times New Roman" pitchFamily="18" charset="0"/>
              </a:rPr>
              <a:t>address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Email message contains object name, confidence and detected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File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Date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Email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Current 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514600"/>
            <a:ext cx="141732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" y="2743200"/>
            <a:ext cx="13441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Upload Image / Video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889504"/>
            <a:ext cx="41148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2514600"/>
            <a:ext cx="118872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68296" y="2743200"/>
            <a:ext cx="111556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Flask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39" y="2889504"/>
            <a:ext cx="45720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77639" y="251460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14215" y="2743200"/>
            <a:ext cx="125272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YOLOv8 Model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2889504"/>
            <a:ext cx="36576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0" y="251460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05856" y="2743200"/>
            <a:ext cx="125272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Detected 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2889504"/>
            <a:ext cx="36576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251460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97496" y="2743200"/>
            <a:ext cx="125272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Voice + Siren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0" y="2889504"/>
            <a:ext cx="457200" cy="0"/>
          </a:xfrm>
          <a:prstGeom prst="line">
            <a:avLst/>
          </a:prstGeom>
          <a:ln w="25400">
            <a:solidFill>
              <a:srgbClr val="145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0" y="251460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14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80576" y="2743200"/>
            <a:ext cx="1618488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900" b="1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Save Frame +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101498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500" b="0">
                <a:solidFill>
                  <a:srgbClr val="2D323C"/>
                </a:solidFill>
                <a:latin typeface="Times New Roman" pitchFamily="18" charset="0"/>
                <a:cs typeface="Times New Roman" pitchFamily="18" charset="0"/>
              </a:rPr>
              <a:t>The same flow is used for uploaded image and recorded video testing.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Completed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prepared for 4 UAV object </a:t>
            </a:r>
            <a:r>
              <a:rPr>
                <a:latin typeface="Times New Roman" pitchFamily="18" charset="0"/>
                <a:cs typeface="Times New Roman" pitchFamily="18" charset="0"/>
              </a:rPr>
              <a:t>classes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Dataset visualization and sample images </a:t>
            </a:r>
            <a:r>
              <a:rPr>
                <a:latin typeface="Times New Roman" pitchFamily="18" charset="0"/>
                <a:cs typeface="Times New Roman" pitchFamily="18" charset="0"/>
              </a:rPr>
              <a:t>verified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 object detection model trained for 100 </a:t>
            </a:r>
            <a:r>
              <a:rPr>
                <a:latin typeface="Times New Roman" pitchFamily="18" charset="0"/>
                <a:cs typeface="Times New Roman" pitchFamily="18" charset="0"/>
              </a:rPr>
              <a:t>epochs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Training metrics and graphs </a:t>
            </a:r>
            <a:r>
              <a:rPr>
                <a:latin typeface="Times New Roman" pitchFamily="18" charset="0"/>
                <a:cs typeface="Times New Roman" pitchFamily="18" charset="0"/>
              </a:rPr>
              <a:t>verified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Best confidence threshold identified from F1 </a:t>
            </a:r>
            <a:r>
              <a:rPr>
                <a:latin typeface="Times New Roman" pitchFamily="18" charset="0"/>
                <a:cs typeface="Times New Roman" pitchFamily="18" charset="0"/>
              </a:rPr>
              <a:t>curve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Flask based detection and alert workflow planned.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mAP50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0.944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Defined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22376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side-by-side rotor class needs more training </a:t>
            </a:r>
            <a:r>
              <a:rPr>
                <a:latin typeface="Times New Roman" pitchFamily="18" charset="0"/>
                <a:cs typeface="Times New Roman" pitchFamily="18" charset="0"/>
              </a:rPr>
              <a:t>images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False alerts should be reduced by adding more background </a:t>
            </a:r>
            <a:r>
              <a:rPr>
                <a:latin typeface="Times New Roman" pitchFamily="18" charset="0"/>
                <a:cs typeface="Times New Roman" pitchFamily="18" charset="0"/>
              </a:rPr>
              <a:t>images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More testing is needed with different videos and camera </a:t>
            </a:r>
            <a:r>
              <a:rPr>
                <a:latin typeface="Times New Roman" pitchFamily="18" charset="0"/>
                <a:cs typeface="Times New Roman" pitchFamily="18" charset="0"/>
              </a:rPr>
              <a:t>angles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Complete Flask web page design and upload </a:t>
            </a:r>
            <a:r>
              <a:rPr>
                <a:latin typeface="Times New Roman" pitchFamily="18" charset="0"/>
                <a:cs typeface="Times New Roman" pitchFamily="18" charset="0"/>
              </a:rPr>
              <a:t>testing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Integrate voice output, siren sound and email alert </a:t>
            </a:r>
            <a:r>
              <a:rPr>
                <a:latin typeface="Times New Roman" pitchFamily="18" charset="0"/>
                <a:cs typeface="Times New Roman" pitchFamily="18" charset="0"/>
              </a:rPr>
              <a:t>fully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Improve model using more real surveillance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150876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176479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78608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56448" y="2670048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926079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False 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3075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56448" y="3822191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07822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Videos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1069848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3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417320" cy="36576"/>
          </a:xfrm>
          <a:prstGeom prst="rect">
            <a:avLst/>
          </a:prstGeom>
          <a:solidFill>
            <a:srgbClr val="BE3737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381583"/>
            <a:ext cx="73152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trained YOLOv8 model gives strong object detection </a:t>
            </a:r>
            <a:r>
              <a:rPr>
                <a:latin typeface="Times New Roman" pitchFamily="18" charset="0"/>
                <a:cs typeface="Times New Roman" pitchFamily="18" charset="0"/>
              </a:rPr>
              <a:t>result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mAP50 reached 0.944, which is good for current </a:t>
            </a:r>
            <a:r>
              <a:rPr>
                <a:latin typeface="Times New Roman" pitchFamily="18" charset="0"/>
                <a:cs typeface="Times New Roman" pitchFamily="18" charset="0"/>
              </a:rPr>
              <a:t>stage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YOLOv8n was selected because it is fast, accurate and easy to </a:t>
            </a:r>
            <a:r>
              <a:rPr>
                <a:latin typeface="Times New Roman" pitchFamily="18" charset="0"/>
                <a:cs typeface="Times New Roman" pitchFamily="18" charset="0"/>
              </a:rPr>
              <a:t>train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The project is useful for drone and UAV security </a:t>
            </a:r>
            <a:r>
              <a:rPr>
                <a:latin typeface="Times New Roman" pitchFamily="18" charset="0"/>
                <a:cs typeface="Times New Roman" pitchFamily="18" charset="0"/>
              </a:rPr>
              <a:t>surveillance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endParaRPr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buFont typeface="Wingdings" pitchFamily="2" charset="2"/>
              <a:buChar char="Ø"/>
              <a:defRPr sz="1600">
                <a:solidFill>
                  <a:srgbClr val="2D323C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Flask web application with voice, siren, frame save and email alert makes system more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46304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02167" y="155448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mAP50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7" y="181051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2A8C5C"/>
                </a:solidFill>
                <a:latin typeface="Times New Roman" pitchFamily="18" charset="0"/>
                <a:cs typeface="Times New Roman" pitchFamily="18" charset="0"/>
              </a:rPr>
              <a:t>0.944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63347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02167" y="2724912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Best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7" y="2980944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1456A0"/>
                </a:solidFill>
                <a:latin typeface="Times New Roman" pitchFamily="18" charset="0"/>
                <a:cs typeface="Times New Roman" pitchFamily="18" charset="0"/>
              </a:rPr>
              <a:t>~0.91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794760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EEF5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02167" y="3886200"/>
            <a:ext cx="1847088" cy="2154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800" b="1">
                <a:solidFill>
                  <a:srgbClr val="5A6473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4142232"/>
            <a:ext cx="1847088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/>
            <a:r>
              <a:rPr sz="1600" b="1">
                <a:solidFill>
                  <a:srgbClr val="BE3737"/>
                </a:solidFill>
                <a:latin typeface="Times New Roman" pitchFamily="18" charset="0"/>
                <a:cs typeface="Times New Roman" pitchFamily="18" charset="0"/>
              </a:rPr>
              <a:t>Web Alert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1626</Words>
  <Application>Microsoft Macintosh PowerPoint</Application>
  <PresentationFormat>Custom</PresentationFormat>
  <Paragraphs>403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Nagasrinu Goriparthi</cp:lastModifiedBy>
  <cp:revision>56</cp:revision>
  <dcterms:created xsi:type="dcterms:W3CDTF">2013-01-27T09:14:16Z</dcterms:created>
  <dcterms:modified xsi:type="dcterms:W3CDTF">2026-06-02T16:07:42Z</dcterms:modified>
  <cp:category/>
</cp:coreProperties>
</file>