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81" r:id="rId24"/>
    <p:sldId id="278" r:id="rId25"/>
    <p:sldId id="279" r:id="rId26"/>
    <p:sldId id="280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>
        <p:scale>
          <a:sx n="104" d="100"/>
          <a:sy n="104" d="100"/>
        </p:scale>
        <p:origin x="-2508" y="-12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54AEAF-C75F-4524-B437-8797E69178DA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59139D-9064-40AF-AEC3-07FAC98CE17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the project. It is a web based security surveillance system for detecting UAV and drone related objects.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main system in simple words. This is not Android; it is Flask web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State the problem. Automatic detection helps security monitoring.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how data was collected and arranged. Use simple wording and mention train and validation split.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preprocessing: folder structure, labels, image size and augmentation.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class distribution. Mention that side-by-side rotor has fewer objects.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one sample image for each class from the actual 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four classes and the difference between object detection and classification.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why YOLOv8 was chosen in simple student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Mention that model comparison is based on project requirement and commonly used object detection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how parameters were selected. Use training curves and F1 curve as main reason.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 hardware information. Clarify that GPU is available in the system, but the current Python Torch build is CPU-only.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training setup from args.yaml and train.py.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 final epoch metrics in simple language.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training convergence from the 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PR curve and class-wise 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confidence threshold selection from F1 curve.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Compare precision and recall to explain threshold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Flask application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voice and siren alert.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saving frame and sending email alert.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complete workflow from upload to alert.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Summarize completed progress.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Mention limitations and next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the presentation with main achievement and next application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7.xml"/><Relationship Id="rId1" Type="http://schemas.openxmlformats.org/officeDocument/2006/relationships/video" Target="file:///C:\Users\nagas\Downloads\Drone_Detection\Drone_Detection\Output_Recording%202026-06-16%20223957.wmv" TargetMode="External"/><Relationship Id="rId4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56A0"/>
          </a:solidFill>
          <a:ln>
            <a:solidFill>
              <a:srgbClr val="14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1389888"/>
            <a:ext cx="10789920" cy="55399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3000" b="1">
                <a:solidFill>
                  <a:srgbClr val="2D323C"/>
                </a:solidFill>
                <a:latin typeface="Times New Roman" pitchFamily="18" charset="0"/>
                <a:cs typeface="Times New Roman" pitchFamily="18" charset="0"/>
              </a:rPr>
              <a:t>AI-Based UAV Object Detection for Security Surveillance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10698480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2300" b="1">
                <a:solidFill>
                  <a:srgbClr val="1456A0"/>
                </a:solidFill>
                <a:latin typeface="Times New Roman" pitchFamily="18" charset="0"/>
                <a:cs typeface="Times New Roman" pitchFamily="18" charset="0"/>
              </a:rP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86384"/>
            <a:ext cx="1417320" cy="36576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75320" y="292608"/>
            <a:ext cx="3063240" cy="2308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r"/>
            <a:r>
              <a:rPr sz="900" b="0">
                <a:solidFill>
                  <a:srgbClr val="5A6473"/>
                </a:solidFill>
                <a:latin typeface="Times New Roman" pitchFamily="18" charset="0"/>
                <a:cs typeface="Times New Roman" pitchFamily="18" charset="0"/>
              </a:rPr>
              <a:t>Security Surveillance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6400800" cy="33752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This project detects UAV and drone type objects for security purpose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User can upload an image or recorded video in Flask web application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YOLOv8 model detects object and shows bounding box with object name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If object is detected, system gives voice output and siren sound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Detected frame is saved with date and time and sent through email alert.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1325880"/>
            <a:ext cx="2084831" cy="841248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927848" y="1417320"/>
            <a:ext cx="1847088" cy="21544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800" b="1">
                <a:solidFill>
                  <a:srgbClr val="5A6473"/>
                </a:solidFill>
                <a:latin typeface="Times New Roman" pitchFamily="18" charset="0"/>
                <a:cs typeface="Times New Roman" pitchFamily="18" charset="0"/>
              </a:rPr>
              <a:t>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7848" y="1673352"/>
            <a:ext cx="1847088" cy="33855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600" b="1">
                <a:solidFill>
                  <a:srgbClr val="1456A0"/>
                </a:solidFill>
                <a:latin typeface="Times New Roman" pitchFamily="18" charset="0"/>
                <a:cs typeface="Times New Roman" pitchFamily="18" charset="0"/>
              </a:rPr>
              <a:t>Flask Web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2487168"/>
            <a:ext cx="2084831" cy="841248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927848" y="2578608"/>
            <a:ext cx="1847088" cy="21544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800" b="1">
                <a:solidFill>
                  <a:srgbClr val="5A6473"/>
                </a:solidFill>
                <a:latin typeface="Times New Roman" pitchFamily="18" charset="0"/>
                <a:cs typeface="Times New Roman" pitchFamily="18" charset="0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8" y="2834640"/>
            <a:ext cx="1847088" cy="33855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600" b="1">
                <a:solidFill>
                  <a:srgbClr val="2A8C5C"/>
                </a:solidFill>
                <a:latin typeface="Times New Roman" pitchFamily="18" charset="0"/>
                <a:cs typeface="Times New Roman" pitchFamily="18" charset="0"/>
              </a:rPr>
              <a:t>Image / Video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3639312"/>
            <a:ext cx="2084831" cy="841248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927848" y="3730752"/>
            <a:ext cx="1847088" cy="21544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800" b="1">
                <a:solidFill>
                  <a:srgbClr val="5A6473"/>
                </a:solidFill>
                <a:latin typeface="Times New Roman" pitchFamily="18" charset="0"/>
                <a:cs typeface="Times New Roman" pitchFamily="18" charset="0"/>
              </a:rPr>
              <a:t>Alert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7848" y="3986784"/>
            <a:ext cx="1847088" cy="33855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600" b="1">
                <a:solidFill>
                  <a:srgbClr val="BE3737"/>
                </a:solidFill>
                <a:latin typeface="Times New Roman" pitchFamily="18" charset="0"/>
                <a:cs typeface="Times New Roman" pitchFamily="18" charset="0"/>
              </a:rPr>
              <a:t>Voice + Siren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10698480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2300" b="1">
                <a:solidFill>
                  <a:srgbClr val="1456A0"/>
                </a:solidFill>
                <a:latin typeface="Times New Roman" pitchFamily="18" charset="0"/>
                <a:cs typeface="Times New Roman" pitchFamily="18" charset="0"/>
              </a:rP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86384"/>
            <a:ext cx="1417320" cy="36576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449464"/>
            <a:ext cx="6400800" cy="3129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Drones and UAVs may enter restricted area without permission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Manual checking of camera video takes more time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Small flying object can be missed by security person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Automatic detection and alert can help to take quick action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System should detect object and immediately send sound and email alert.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10698480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2300" b="1">
                <a:solidFill>
                  <a:srgbClr val="1456A0"/>
                </a:solidFill>
                <a:latin typeface="Times New Roman" pitchFamily="18" charset="0"/>
                <a:cs typeface="Times New Roman" pitchFamily="18" charset="0"/>
              </a:rPr>
              <a:t>Data Collection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86384"/>
            <a:ext cx="1417320" cy="36576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7132320" cy="3826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Images were collected for UAV and rotor based flying objects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Dataset contains different object sizes, camera views and backgrounds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Some images are from prepared drone datasets and collected image sources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Images were divided into training and validation folders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Final dataset has 13,661 training images and 2,637 validation images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Each object was marked with bounding box and class name.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92440" y="1417320"/>
            <a:ext cx="2084831" cy="841248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02167" y="1508760"/>
            <a:ext cx="1847088" cy="21544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800" b="1">
                <a:solidFill>
                  <a:srgbClr val="5A6473"/>
                </a:solidFill>
                <a:latin typeface="Times New Roman" pitchFamily="18" charset="0"/>
                <a:cs typeface="Times New Roman" pitchFamily="18" charset="0"/>
              </a:rPr>
              <a:t>Train Images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02167" y="1764792"/>
            <a:ext cx="1847088" cy="33855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600" b="1">
                <a:solidFill>
                  <a:srgbClr val="2A8C5C"/>
                </a:solidFill>
                <a:latin typeface="Times New Roman" pitchFamily="18" charset="0"/>
                <a:cs typeface="Times New Roman" pitchFamily="18" charset="0"/>
              </a:rPr>
              <a:t>13,661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2578608"/>
            <a:ext cx="2084831" cy="841248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02167" y="2670048"/>
            <a:ext cx="1847088" cy="21544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800" b="1">
                <a:solidFill>
                  <a:srgbClr val="5A6473"/>
                </a:solidFill>
                <a:latin typeface="Times New Roman" pitchFamily="18" charset="0"/>
                <a:cs typeface="Times New Roman" pitchFamily="18" charset="0"/>
              </a:rPr>
              <a:t>Val Images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02167" y="2926079"/>
            <a:ext cx="1847088" cy="33855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600" b="1">
                <a:solidFill>
                  <a:srgbClr val="1456A0"/>
                </a:solidFill>
                <a:latin typeface="Times New Roman" pitchFamily="18" charset="0"/>
                <a:cs typeface="Times New Roman" pitchFamily="18" charset="0"/>
              </a:rPr>
              <a:t>2,637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3730752"/>
            <a:ext cx="2084831" cy="841248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02167" y="3822191"/>
            <a:ext cx="1847088" cy="21544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800" b="1">
                <a:solidFill>
                  <a:srgbClr val="5A6473"/>
                </a:solidFill>
                <a:latin typeface="Times New Roman" pitchFamily="18" charset="0"/>
                <a:cs typeface="Times New Roman" pitchFamily="18" charset="0"/>
              </a:rPr>
              <a:t>Classes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02167" y="4078224"/>
            <a:ext cx="1847088" cy="33855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600" b="1">
                <a:solidFill>
                  <a:srgbClr val="BE3737"/>
                </a:solidFill>
                <a:latin typeface="Times New Roman" pitchFamily="18" charset="0"/>
                <a:cs typeface="Times New Roman" pitchFamily="18" charset="0"/>
              </a:rP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10698480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2300" b="1">
                <a:solidFill>
                  <a:srgbClr val="1456A0"/>
                </a:solidFill>
                <a:latin typeface="Times New Roman" pitchFamily="18" charset="0"/>
                <a:cs typeface="Times New Roman" pitchFamily="18" charset="0"/>
              </a:rPr>
              <a:t>Data Preprocessing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86384"/>
            <a:ext cx="1417320" cy="36576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7132320" cy="41755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Images were checked and arranged in YOLO folder format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Annotation labels were prepared in YOLO text format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Image size used for training is 640 x 640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YOLO training applies resizing and data augmentation internally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Augmentation helps model learn different positions and object scales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Dataset YAML file contains train path, validation path and class names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092440" y="1417320"/>
            <a:ext cx="2084831" cy="841248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02167" y="1508760"/>
            <a:ext cx="1847088" cy="21544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800" b="1">
                <a:solidFill>
                  <a:srgbClr val="5A6473"/>
                </a:solidFill>
                <a:latin typeface="Times New Roman" pitchFamily="18" charset="0"/>
                <a:cs typeface="Times New Roman" pitchFamily="18" charset="0"/>
              </a:rPr>
              <a:t>Format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02167" y="1764792"/>
            <a:ext cx="1847088" cy="33855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600" b="1">
                <a:solidFill>
                  <a:srgbClr val="1456A0"/>
                </a:solidFill>
                <a:latin typeface="Times New Roman" pitchFamily="18" charset="0"/>
                <a:cs typeface="Times New Roman" pitchFamily="18" charset="0"/>
              </a:rPr>
              <a:t>YOLO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2578608"/>
            <a:ext cx="2084831" cy="841248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02167" y="2670048"/>
            <a:ext cx="1847088" cy="21544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800" b="1">
                <a:solidFill>
                  <a:srgbClr val="5A6473"/>
                </a:solidFill>
                <a:latin typeface="Times New Roman" pitchFamily="18" charset="0"/>
                <a:cs typeface="Times New Roman" pitchFamily="18" charset="0"/>
              </a:rPr>
              <a:t>Image Size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02167" y="2926079"/>
            <a:ext cx="1847088" cy="33855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600" b="1">
                <a:solidFill>
                  <a:srgbClr val="2A8C5C"/>
                </a:solidFill>
                <a:latin typeface="Times New Roman" pitchFamily="18" charset="0"/>
                <a:cs typeface="Times New Roman" pitchFamily="18" charset="0"/>
              </a:rPr>
              <a:t>640 x 640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3730752"/>
            <a:ext cx="2084831" cy="841248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02167" y="3822191"/>
            <a:ext cx="1847088" cy="21544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800" b="1">
                <a:solidFill>
                  <a:srgbClr val="5A6473"/>
                </a:solidFill>
                <a:latin typeface="Times New Roman" pitchFamily="18" charset="0"/>
                <a:cs typeface="Times New Roman" pitchFamily="18" charset="0"/>
              </a:rPr>
              <a:t>Annotation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02167" y="4078224"/>
            <a:ext cx="1847088" cy="33855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600" b="1">
                <a:solidFill>
                  <a:srgbClr val="1456A0"/>
                </a:solidFill>
                <a:latin typeface="Times New Roman" pitchFamily="18" charset="0"/>
                <a:cs typeface="Times New Roman" pitchFamily="18" charset="0"/>
              </a:rPr>
              <a:t>Bounding Box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10698480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2300" b="1">
                <a:solidFill>
                  <a:srgbClr val="1456A0"/>
                </a:solidFill>
                <a:latin typeface="Times New Roman" pitchFamily="18" charset="0"/>
                <a:cs typeface="Times New Roman" pitchFamily="18" charset="0"/>
              </a:rPr>
              <a:t>Dataset Visualization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86384"/>
            <a:ext cx="1417320" cy="36576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170432"/>
          <a:ext cx="530352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/>
                <a:gridCol w="1767840"/>
                <a:gridCol w="1767840"/>
              </a:tblGrid>
              <a:tr h="46634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latin typeface="Times New Roman" pitchFamily="18" charset="0"/>
                          <a:cs typeface="Times New Roman" pitchFamily="18" charset="0"/>
                        </a:rPr>
                        <a:t>Class</a:t>
                      </a:r>
                    </a:p>
                  </a:txBody>
                  <a:tcPr>
                    <a:solidFill>
                      <a:srgbClr val="1456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latin typeface="Times New Roman" pitchFamily="18" charset="0"/>
                          <a:cs typeface="Times New Roman" pitchFamily="18" charset="0"/>
                        </a:rPr>
                        <a:t>Train Objects</a:t>
                      </a:r>
                    </a:p>
                  </a:txBody>
                  <a:tcPr>
                    <a:solidFill>
                      <a:srgbClr val="1456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latin typeface="Times New Roman" pitchFamily="18" charset="0"/>
                          <a:cs typeface="Times New Roman" pitchFamily="18" charset="0"/>
                        </a:rPr>
                        <a:t>Val Objects</a:t>
                      </a:r>
                    </a:p>
                  </a:txBody>
                  <a:tcPr>
                    <a:solidFill>
                      <a:srgbClr val="1456A0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rPr>
                          <a:latin typeface="Times New Roman" pitchFamily="18" charset="0"/>
                          <a:cs typeface="Times New Roman" pitchFamily="18" charset="0"/>
                        </a:rPr>
                        <a:t>UAV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rPr>
                          <a:latin typeface="Times New Roman" pitchFamily="18" charset="0"/>
                          <a:cs typeface="Times New Roman" pitchFamily="18" charset="0"/>
                        </a:rPr>
                        <a:t>13,025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rPr>
                          <a:latin typeface="Times New Roman" pitchFamily="18" charset="0"/>
                          <a:cs typeface="Times New Roman" pitchFamily="18" charset="0"/>
                        </a:rPr>
                        <a:t>2,584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rPr>
                          <a:latin typeface="Times New Roman" pitchFamily="18" charset="0"/>
                          <a:cs typeface="Times New Roman" pitchFamily="18" charset="0"/>
                        </a:rPr>
                        <a:t>side-by-side rotor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rPr>
                          <a:latin typeface="Times New Roman" pitchFamily="18" charset="0"/>
                          <a:cs typeface="Times New Roman" pitchFamily="18" charset="0"/>
                        </a:rPr>
                        <a:t>216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rPr>
                          <a:latin typeface="Times New Roman" pitchFamily="18" charset="0"/>
                          <a:cs typeface="Times New Roman" pitchFamily="18" charset="0"/>
                        </a:rPr>
                        <a:t>54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rPr>
                          <a:latin typeface="Times New Roman" pitchFamily="18" charset="0"/>
                          <a:cs typeface="Times New Roman" pitchFamily="18" charset="0"/>
                        </a:rPr>
                        <a:t>single rotor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rPr>
                          <a:latin typeface="Times New Roman" pitchFamily="18" charset="0"/>
                          <a:cs typeface="Times New Roman" pitchFamily="18" charset="0"/>
                        </a:rPr>
                        <a:t>929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rPr>
                          <a:latin typeface="Times New Roman" pitchFamily="18" charset="0"/>
                          <a:cs typeface="Times New Roman" pitchFamily="18" charset="0"/>
                        </a:rPr>
                        <a:t>166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rPr>
                          <a:latin typeface="Times New Roman" pitchFamily="18" charset="0"/>
                          <a:cs typeface="Times New Roman" pitchFamily="18" charset="0"/>
                        </a:rPr>
                        <a:t>tandem rotor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rPr>
                          <a:latin typeface="Times New Roman" pitchFamily="18" charset="0"/>
                          <a:cs typeface="Times New Roman" pitchFamily="18" charset="0"/>
                        </a:rPr>
                        <a:t>620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rPr>
                          <a:latin typeface="Times New Roman" pitchFamily="18" charset="0"/>
                          <a:cs typeface="Times New Roman" pitchFamily="18" charset="0"/>
                        </a:rPr>
                        <a:t>64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92240" y="1234440"/>
            <a:ext cx="4663440" cy="2323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UAV class has more samples than other classes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defRPr sz="15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defRPr sz="15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side-by-side rotor has less samples, so it needs more data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defRPr sz="15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defRPr sz="15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Class count helps to understand model performance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defRPr sz="15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defRPr sz="15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More balanced data can improve future result.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10698480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2300" b="1">
                <a:solidFill>
                  <a:srgbClr val="1456A0"/>
                </a:solidFill>
                <a:latin typeface="Times New Roman" pitchFamily="18" charset="0"/>
                <a:cs typeface="Times New Roman" pitchFamily="18" charset="0"/>
              </a:rPr>
              <a:t>Sample Images for Each Class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86384"/>
            <a:ext cx="1417320" cy="36576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 descr="class_0_UAV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143000"/>
            <a:ext cx="2148840" cy="3337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4544568"/>
            <a:ext cx="2148840" cy="2308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900" b="0">
                <a:solidFill>
                  <a:srgbClr val="5A6473"/>
                </a:solidFill>
                <a:latin typeface="Times New Roman" pitchFamily="18" charset="0"/>
                <a:cs typeface="Times New Roman" pitchFamily="18" charset="0"/>
              </a:rPr>
              <a:t>UAV</a:t>
            </a:r>
          </a:p>
        </p:txBody>
      </p:sp>
      <p:pic>
        <p:nvPicPr>
          <p:cNvPr id="6" name="Picture 5" descr="class_1_side_by_side_roto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1143000"/>
            <a:ext cx="2148840" cy="3337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566160" y="4544568"/>
            <a:ext cx="2148840" cy="2308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900" b="0">
                <a:solidFill>
                  <a:srgbClr val="5A6473"/>
                </a:solidFill>
                <a:latin typeface="Times New Roman" pitchFamily="18" charset="0"/>
                <a:cs typeface="Times New Roman" pitchFamily="18" charset="0"/>
              </a:rPr>
              <a:t>side-by-side rotor</a:t>
            </a:r>
          </a:p>
        </p:txBody>
      </p:sp>
      <p:pic>
        <p:nvPicPr>
          <p:cNvPr id="8" name="Picture 7" descr="class_2_single_rotor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1143000"/>
            <a:ext cx="2148840" cy="3337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46520" y="4544568"/>
            <a:ext cx="2148840" cy="2308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900" b="0">
                <a:solidFill>
                  <a:srgbClr val="5A6473"/>
                </a:solidFill>
                <a:latin typeface="Times New Roman" pitchFamily="18" charset="0"/>
                <a:cs typeface="Times New Roman" pitchFamily="18" charset="0"/>
              </a:rPr>
              <a:t>single rotor</a:t>
            </a:r>
          </a:p>
        </p:txBody>
      </p:sp>
      <p:pic>
        <p:nvPicPr>
          <p:cNvPr id="10" name="Picture 9" descr="class_3_tandem_rotor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0" y="1143000"/>
            <a:ext cx="2148840" cy="33375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326880" y="4544568"/>
            <a:ext cx="2148840" cy="2308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900" b="0">
                <a:solidFill>
                  <a:srgbClr val="5A6473"/>
                </a:solidFill>
                <a:latin typeface="Times New Roman" pitchFamily="18" charset="0"/>
                <a:cs typeface="Times New Roman" pitchFamily="18" charset="0"/>
              </a:rPr>
              <a:t>tandem rotor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10698480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2300" b="1">
                <a:solidFill>
                  <a:srgbClr val="1456A0"/>
                </a:solidFill>
                <a:latin typeface="Times New Roman" pitchFamily="18" charset="0"/>
                <a:cs typeface="Times New Roman" pitchFamily="18" charset="0"/>
              </a:rPr>
              <a:t>Object Detection Classes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86384"/>
            <a:ext cx="1417320" cy="36576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325880"/>
          <a:ext cx="493776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468880"/>
              </a:tblGrid>
              <a:tr h="49377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1456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Class Name</a:t>
                      </a:r>
                    </a:p>
                  </a:txBody>
                  <a:tcPr>
                    <a:solidFill>
                      <a:srgbClr val="1456A0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UAV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side-by-side rotor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single rotor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tandem rotor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309360" y="1371600"/>
            <a:ext cx="4846320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This is object detection, not only classification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Output gives object name and object location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Bounding box is drawn around detected object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Confidence score tells how sure the model is.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10698480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2300" b="1">
                <a:solidFill>
                  <a:srgbClr val="1456A0"/>
                </a:solidFill>
                <a:latin typeface="Times New Roman" pitchFamily="18" charset="0"/>
                <a:cs typeface="Times New Roman" pitchFamily="18" charset="0"/>
              </a:rPr>
              <a:t>Why YOLOv8 Was Selected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86384"/>
            <a:ext cx="1417320" cy="36576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7132320" cy="3826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YOLOv8 gives good speed and accuracy for object detection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It can detect objects in image and video frames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It is easy to train with custom YOLO dataset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It gives useful training graphs like mAP, precision, recall and F1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YOLOv8n is lightweight, so it is suitable for web application testing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It supports future deployment and model conversion also.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417320"/>
            <a:ext cx="2084831" cy="841248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156448" y="1508760"/>
            <a:ext cx="1847088" cy="21544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800" b="1">
                <a:solidFill>
                  <a:srgbClr val="5A6473"/>
                </a:solidFill>
                <a:latin typeface="Times New Roman" pitchFamily="18" charset="0"/>
                <a:cs typeface="Times New Roman" pitchFamily="18" charset="0"/>
              </a:rPr>
              <a:t>Main Reason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56448" y="1764792"/>
            <a:ext cx="1847088" cy="33855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600" b="1">
                <a:solidFill>
                  <a:srgbClr val="1456A0"/>
                </a:solidFill>
                <a:latin typeface="Times New Roman" pitchFamily="18" charset="0"/>
                <a:cs typeface="Times New Roman" pitchFamily="18" charset="0"/>
              </a:rPr>
              <a:t>Fast + Accurate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578608"/>
            <a:ext cx="2084831" cy="841248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156448" y="2670048"/>
            <a:ext cx="1847088" cy="21544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800" b="1">
                <a:solidFill>
                  <a:srgbClr val="5A6473"/>
                </a:solidFill>
                <a:latin typeface="Times New Roman" pitchFamily="18" charset="0"/>
                <a:cs typeface="Times New Roman" pitchFamily="18" charset="0"/>
              </a:rPr>
              <a:t>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56448" y="2926079"/>
            <a:ext cx="1847088" cy="33855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600" b="1">
                <a:solidFill>
                  <a:srgbClr val="2A8C5C"/>
                </a:solidFill>
                <a:latin typeface="Times New Roman" pitchFamily="18" charset="0"/>
                <a:cs typeface="Times New Roman" pitchFamily="18" charset="0"/>
              </a:rPr>
              <a:t>Custom YOLO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730752"/>
            <a:ext cx="2084831" cy="841248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156448" y="3822191"/>
            <a:ext cx="1847088" cy="21544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800" b="1">
                <a:solidFill>
                  <a:srgbClr val="5A6473"/>
                </a:solidFill>
                <a:latin typeface="Times New Roman" pitchFamily="18" charset="0"/>
                <a:cs typeface="Times New Roman" pitchFamily="18" charset="0"/>
              </a:rPr>
              <a:t>Web 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6448" y="4078224"/>
            <a:ext cx="1847088" cy="33855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600" b="1">
                <a:solidFill>
                  <a:srgbClr val="1456A0"/>
                </a:solidFill>
                <a:latin typeface="Times New Roman" pitchFamily="18" charset="0"/>
                <a:cs typeface="Times New Roman" pitchFamily="18" charset="0"/>
              </a:rPr>
              <a:t>Suitable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10698480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buFont typeface="Wingdings" pitchFamily="2" charset="2"/>
              <a:buChar char="Ø"/>
            </a:pPr>
            <a:r>
              <a:rPr sz="2300" b="1">
                <a:solidFill>
                  <a:srgbClr val="1456A0"/>
                </a:solidFill>
                <a:latin typeface="Times New Roman" pitchFamily="18" charset="0"/>
                <a:cs typeface="Times New Roman" pitchFamily="18" charset="0"/>
              </a:rPr>
              <a:t>Model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86384"/>
            <a:ext cx="1417320" cy="36576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 typeface="Wingdings" pitchFamily="2" charset="2"/>
              <a:buChar char="Ø"/>
            </a:pPr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399" y="4480560"/>
            <a:ext cx="1078912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sz="1600" b="0">
                <a:solidFill>
                  <a:srgbClr val="232323"/>
                </a:solidFill>
                <a:latin typeface="Times New Roman" pitchFamily="18" charset="0"/>
                <a:cs typeface="Times New Roman" pitchFamily="18" charset="0"/>
              </a:rPr>
              <a:t>Model comparison was updated from the executed notebook outputs and saved metric files.</a:t>
            </a:r>
          </a:p>
          <a:p>
            <a:pPr>
              <a:buFont typeface="Wingdings" pitchFamily="2" charset="2"/>
              <a:buChar char="Ø"/>
            </a:pPr>
            <a:endParaRPr sz="160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sz="1600" b="0">
                <a:solidFill>
                  <a:srgbClr val="232323"/>
                </a:solidFill>
                <a:latin typeface="Times New Roman" pitchFamily="18" charset="0"/>
                <a:cs typeface="Times New Roman" pitchFamily="18" charset="0"/>
              </a:rPr>
              <a:t>YOLOv8 gives the best overall surveillance score with precision 0.9487, recall 0.9120 and mAP50 0.9471.</a:t>
            </a:r>
          </a:p>
          <a:p>
            <a:pPr>
              <a:buFont typeface="Wingdings" pitchFamily="2" charset="2"/>
              <a:buChar char="Ø"/>
            </a:pPr>
            <a:endParaRPr sz="160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sz="1600" b="0">
                <a:solidFill>
                  <a:srgbClr val="232323"/>
                </a:solidFill>
                <a:latin typeface="Times New Roman" pitchFamily="18" charset="0"/>
                <a:cs typeface="Times New Roman" pitchFamily="18" charset="0"/>
              </a:rPr>
              <a:t>SSD is a class-agnostic UAV detector in this comparison and gives a stronger fast baseline than Faster R-CNN.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097280"/>
          <a:ext cx="8001000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1234440"/>
                <a:gridCol w="1097280"/>
                <a:gridCol w="914400"/>
                <a:gridCol w="1051560"/>
                <a:gridCol w="1234440"/>
                <a:gridCol w="960120"/>
              </a:tblGrid>
              <a:tr h="67437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BE37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>
                    <a:solidFill>
                      <a:srgbClr val="BE37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>
                    <a:solidFill>
                      <a:srgbClr val="BE37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>
                    <a:solidFill>
                      <a:srgbClr val="BE37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mAP50</a:t>
                      </a:r>
                    </a:p>
                  </a:txBody>
                  <a:tcPr>
                    <a:solidFill>
                      <a:srgbClr val="BE37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mAP50-95</a:t>
                      </a:r>
                    </a:p>
                  </a:txBody>
                  <a:tcPr>
                    <a:solidFill>
                      <a:srgbClr val="BE37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FPS</a:t>
                      </a:r>
                    </a:p>
                  </a:txBody>
                  <a:tcPr>
                    <a:solidFill>
                      <a:srgbClr val="BE3737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Calibri"/>
                        </a:rPr>
                        <a:t>YOLOv8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Calibri"/>
                        </a:rPr>
                        <a:t>0.9487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Calibri"/>
                        </a:rPr>
                        <a:t>0.912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Calibri"/>
                        </a:rPr>
                        <a:t>0.93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Calibri"/>
                        </a:rPr>
                        <a:t>0.9471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Calibri"/>
                        </a:rPr>
                        <a:t>0.7292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Calibri"/>
                        </a:rPr>
                        <a:t>51.55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Calibri"/>
                        </a:rPr>
                        <a:t>SSD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Calibri"/>
                        </a:rPr>
                        <a:t>0.712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Calibri"/>
                        </a:rPr>
                        <a:t>0.6953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Calibri"/>
                        </a:rPr>
                        <a:t>0.7036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Calibri"/>
                        </a:rPr>
                        <a:t>0.712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Calibri"/>
                        </a:rPr>
                        <a:t>0.712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Calibri"/>
                        </a:rPr>
                        <a:t>48.16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Calibri"/>
                        </a:rPr>
                        <a:t>Faster R-CNN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Calibri"/>
                        </a:rPr>
                        <a:t>0.4364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Calibri"/>
                        </a:rPr>
                        <a:t>0.75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Calibri"/>
                        </a:rPr>
                        <a:t>0.5517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Calibri"/>
                        </a:rPr>
                        <a:t>0.4364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Calibri"/>
                        </a:rPr>
                        <a:t>0.4364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Calibri"/>
                        </a:rPr>
                        <a:t>37.06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10698480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sz="2300" b="1">
                <a:solidFill>
                  <a:srgbClr val="1456A0"/>
                </a:solidFill>
                <a:latin typeface="Times New Roman" pitchFamily="18" charset="0"/>
                <a:cs typeface="Times New Roman" pitchFamily="18" charset="0"/>
              </a:rPr>
              <a:t>Best Parameter Selection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86384"/>
            <a:ext cx="1417320" cy="36576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Ø"/>
            </a:pPr>
            <a:endParaRPr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43000"/>
          <a:ext cx="107442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1400"/>
                <a:gridCol w="3581400"/>
                <a:gridCol w="3581400"/>
              </a:tblGrid>
              <a:tr h="54864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1456A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456A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Why Selected</a:t>
                      </a:r>
                    </a:p>
                  </a:txBody>
                  <a:tcPr>
                    <a:solidFill>
                      <a:srgbClr val="1456A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Epochs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Enough training time and graph became stable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Image size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640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Common YOLO size and good object detail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Batch size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Fits available system memory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Confidence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~0.38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Best F1 score from F1 curve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IoU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0.7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YOLO validation default used in training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4709160"/>
            <a:ext cx="1024128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sz="1600" b="0">
                <a:solidFill>
                  <a:srgbClr val="232323"/>
                </a:solidFill>
                <a:latin typeface="Times New Roman" pitchFamily="18" charset="0"/>
                <a:cs typeface="Times New Roman" pitchFamily="18" charset="0"/>
              </a:rPr>
              <a:t>Parameters were checked using training result graphs and final metrics.</a:t>
            </a:r>
          </a:p>
          <a:p>
            <a:pPr>
              <a:buFont typeface="Wingdings" pitchFamily="2" charset="2"/>
              <a:buChar char="Ø"/>
            </a:pPr>
            <a:endParaRPr sz="160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sz="1600" b="0">
                <a:solidFill>
                  <a:srgbClr val="232323"/>
                </a:solidFill>
                <a:latin typeface="Times New Roman" pitchFamily="18" charset="0"/>
                <a:cs typeface="Times New Roman" pitchFamily="18" charset="0"/>
              </a:rPr>
              <a:t>Loss became stable and validation mAP50 reached 0.9471 after 100 epochs.</a:t>
            </a:r>
          </a:p>
          <a:p>
            <a:pPr>
              <a:buFont typeface="Wingdings" pitchFamily="2" charset="2"/>
              <a:buChar char="Ø"/>
            </a:pPr>
            <a:endParaRPr sz="160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sz="1600" b="0">
                <a:solidFill>
                  <a:srgbClr val="232323"/>
                </a:solidFill>
                <a:latin typeface="Times New Roman" pitchFamily="18" charset="0"/>
                <a:cs typeface="Times New Roman" pitchFamily="18" charset="0"/>
              </a:rPr>
              <a:t>Confidence threshold can be adjusted after real video testing.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10698480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2300" b="1">
                <a:solidFill>
                  <a:srgbClr val="1456A0"/>
                </a:solidFill>
                <a:latin typeface="Times New Roman" pitchFamily="18" charset="0"/>
                <a:cs typeface="Times New Roman" pitchFamily="18" charset="0"/>
              </a:rPr>
              <a:t>Hardware and Software Used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86384"/>
            <a:ext cx="1417320" cy="36576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078992"/>
          <a:ext cx="10607040" cy="3680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3520"/>
                <a:gridCol w="5303520"/>
              </a:tblGrid>
              <a:tr h="5257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Resource</a:t>
                      </a:r>
                    </a:p>
                  </a:txBody>
                  <a:tcPr>
                    <a:solidFill>
                      <a:srgbClr val="1456A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Information</a:t>
                      </a:r>
                    </a:p>
                  </a:txBody>
                  <a:tcPr>
                    <a:solidFill>
                      <a:srgbClr val="1456A0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Operating System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Windows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CPU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Intel processor, 16 logical cores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GPU Available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NVIDIA GeForce RTX 2060 SUPER, 8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Driver / CUDA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NVIDIA driver 591.86, </a:t>
                      </a:r>
                      <a:r>
                        <a:rPr/>
                        <a:t>CUDA </a:t>
                      </a:r>
                      <a:r>
                        <a:rPr smtClean="0"/>
                        <a:t>13.1</a:t>
                      </a:r>
                      <a:endParaRPr/>
                    </a:p>
                  </a:txBody>
                  <a:tcPr>
                    <a:solidFill>
                      <a:srgbClr val="EEF5FC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Python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rPr smtClean="0"/>
                        <a:t>3.13.12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Framework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Ultralytics YOLOv8, Flask, OpenCV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10698480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2300" b="1">
                <a:solidFill>
                  <a:srgbClr val="1456A0"/>
                </a:solidFill>
                <a:latin typeface="Times New Roman" pitchFamily="18" charset="0"/>
                <a:cs typeface="Times New Roman" pitchFamily="18" charset="0"/>
              </a:rPr>
              <a:t>Model Training Setup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86384"/>
            <a:ext cx="1417320" cy="36576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694944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Model used: YOLOv8n object detection model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Epochs: 100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Image size: 640 x 640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Batch size: 8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Dataset format: YOLO annotation format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Training output folder: runs/detect/custom_yolov8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Trained model will be used inside Flask application.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01000" y="1417320"/>
            <a:ext cx="2084831" cy="841248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110727" y="1508760"/>
            <a:ext cx="1847088" cy="21544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800" b="1">
                <a:solidFill>
                  <a:srgbClr val="5A6473"/>
                </a:solidFill>
                <a:latin typeface="Times New Roman" pitchFamily="18" charset="0"/>
                <a:cs typeface="Times New Roman" pitchFamily="18" charset="0"/>
              </a:rPr>
              <a:t>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10727" y="1764792"/>
            <a:ext cx="1847088" cy="33855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600" b="1">
                <a:solidFill>
                  <a:srgbClr val="1456A0"/>
                </a:solidFill>
                <a:latin typeface="Times New Roman" pitchFamily="18" charset="0"/>
                <a:cs typeface="Times New Roman" pitchFamily="18" charset="0"/>
              </a:rPr>
              <a:t>YOLOv8n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2578608"/>
            <a:ext cx="2084831" cy="841248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110727" y="2670048"/>
            <a:ext cx="1847088" cy="21544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800" b="1">
                <a:solidFill>
                  <a:srgbClr val="5A6473"/>
                </a:solidFill>
                <a:latin typeface="Times New Roman" pitchFamily="18" charset="0"/>
                <a:cs typeface="Times New Roman" pitchFamily="18" charset="0"/>
              </a:rPr>
              <a:t>Epochs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10727" y="2926079"/>
            <a:ext cx="1847088" cy="33855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600" b="1">
                <a:solidFill>
                  <a:srgbClr val="2A8C5C"/>
                </a:solidFill>
                <a:latin typeface="Times New Roman" pitchFamily="18" charset="0"/>
                <a:cs typeface="Times New Roman" pitchFamily="18" charset="0"/>
              </a:rPr>
              <a:t>100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3730752"/>
            <a:ext cx="2084831" cy="841248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110727" y="3822191"/>
            <a:ext cx="1847088" cy="21544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800" b="1">
                <a:solidFill>
                  <a:srgbClr val="5A6473"/>
                </a:solidFill>
                <a:latin typeface="Times New Roman" pitchFamily="18" charset="0"/>
                <a:cs typeface="Times New Roman" pitchFamily="18" charset="0"/>
              </a:rPr>
              <a:t>Image Size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10727" y="4078224"/>
            <a:ext cx="1847088" cy="33855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600" b="1">
                <a:solidFill>
                  <a:srgbClr val="1456A0"/>
                </a:solidFill>
                <a:latin typeface="Times New Roman" pitchFamily="18" charset="0"/>
                <a:cs typeface="Times New Roman" pitchFamily="18" charset="0"/>
              </a:rPr>
              <a:t>640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10698480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buFont typeface="Wingdings" pitchFamily="2" charset="2"/>
              <a:buChar char="Ø"/>
            </a:pPr>
            <a:r>
              <a:rPr sz="2300" b="1">
                <a:solidFill>
                  <a:srgbClr val="1456A0"/>
                </a:solidFill>
                <a:latin typeface="Times New Roman" pitchFamily="18" charset="0"/>
                <a:cs typeface="Times New Roman" pitchFamily="18" charset="0"/>
              </a:rPr>
              <a:t>Training Results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86384"/>
            <a:ext cx="1417320" cy="36576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 typeface="Wingdings" pitchFamily="2" charset="2"/>
              <a:buChar char="Ø"/>
            </a:pPr>
            <a:endParaRPr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005840"/>
          <a:ext cx="52120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6040"/>
                <a:gridCol w="2606040"/>
              </a:tblGrid>
              <a:tr h="432261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BE37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>
                    <a:solidFill>
                      <a:srgbClr val="BE3737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Calibri"/>
                        </a:rPr>
                        <a:t>0.9487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Calibri"/>
                        </a:rPr>
                        <a:t>0.912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Calibri"/>
                        </a:rPr>
                        <a:t>F1 Score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Calibri"/>
                        </a:rPr>
                        <a:t>0.93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Calibri"/>
                        </a:rPr>
                        <a:t>mAP50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Calibri"/>
                        </a:rPr>
                        <a:t>0.9471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Calibri"/>
                        </a:rPr>
                        <a:t>mAP50-95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Calibri"/>
                        </a:rPr>
                        <a:t>0.7292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Calibri"/>
                        </a:rPr>
                        <a:t>Inference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Calibri"/>
                        </a:rPr>
                        <a:t>19.4 ms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Calibri"/>
                        </a:rPr>
                        <a:t>FPS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Calibri"/>
                        </a:rPr>
                        <a:t>51.55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Calibri"/>
                        </a:rPr>
                        <a:t>Train box loss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Calibri"/>
                        </a:rPr>
                        <a:t>0.727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Calibri"/>
                        </a:rPr>
                        <a:t>Val box loss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Calibri"/>
                        </a:rPr>
                        <a:t>1.018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</a:tr>
              <a:tr h="43227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Calibri"/>
                        </a:rPr>
                        <a:t>Model size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Calibri"/>
                        </a:rPr>
                        <a:t>5.97 MB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1234440"/>
            <a:ext cx="556626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sz="1600" b="0">
                <a:solidFill>
                  <a:srgbClr val="232323"/>
                </a:solidFill>
                <a:latin typeface="Times New Roman" pitchFamily="18" charset="0"/>
                <a:cs typeface="Times New Roman" pitchFamily="18" charset="0"/>
              </a:rPr>
              <a:t>Final precision is 0.9487.</a:t>
            </a:r>
          </a:p>
          <a:p>
            <a:pPr>
              <a:buFont typeface="Wingdings" pitchFamily="2" charset="2"/>
              <a:buChar char="Ø"/>
            </a:pPr>
            <a:endParaRPr sz="160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sz="1600" b="0">
                <a:solidFill>
                  <a:srgbClr val="232323"/>
                </a:solidFill>
                <a:latin typeface="Times New Roman" pitchFamily="18" charset="0"/>
                <a:cs typeface="Times New Roman" pitchFamily="18" charset="0"/>
              </a:rPr>
              <a:t>Final recall is 0.912.</a:t>
            </a:r>
          </a:p>
          <a:p>
            <a:pPr>
              <a:buFont typeface="Wingdings" pitchFamily="2" charset="2"/>
              <a:buChar char="Ø"/>
            </a:pPr>
            <a:endParaRPr sz="160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sz="1600" b="0">
                <a:solidFill>
                  <a:srgbClr val="232323"/>
                </a:solidFill>
                <a:latin typeface="Times New Roman" pitchFamily="18" charset="0"/>
                <a:cs typeface="Times New Roman" pitchFamily="18" charset="0"/>
              </a:rPr>
              <a:t>mAP50 reached 0.9471 and mAP50-95 reached 0.7292.</a:t>
            </a:r>
          </a:p>
          <a:p>
            <a:pPr>
              <a:buFont typeface="Wingdings" pitchFamily="2" charset="2"/>
              <a:buChar char="Ø"/>
            </a:pPr>
            <a:endParaRPr sz="160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sz="1600" b="0">
                <a:solidFill>
                  <a:srgbClr val="232323"/>
                </a:solidFill>
                <a:latin typeface="Times New Roman" pitchFamily="18" charset="0"/>
                <a:cs typeface="Times New Roman" pitchFamily="18" charset="0"/>
              </a:rPr>
              <a:t>These actual values are taken from the latest YOLOv8 notebook output and metrics JSON.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10698480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2300" b="1">
                <a:solidFill>
                  <a:srgbClr val="1456A0"/>
                </a:solidFill>
                <a:latin typeface="Times New Roman" pitchFamily="18" charset="0"/>
                <a:cs typeface="Times New Roman" pitchFamily="18" charset="0"/>
              </a:rPr>
              <a:t>Training Performance Graph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86384"/>
            <a:ext cx="1417320" cy="36576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5800" y="5843016"/>
            <a:ext cx="6720840" cy="2308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900" b="0">
                <a:solidFill>
                  <a:srgbClr val="5A6473"/>
                </a:solidFill>
                <a:latin typeface="Times New Roman" pitchFamily="18" charset="0"/>
                <a:cs typeface="Times New Roman" pitchFamily="18" charset="0"/>
              </a:rPr>
              <a:t>Training result graph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8120" y="1234440"/>
            <a:ext cx="3611880" cy="3221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buFont typeface="Wingdings" pitchFamily="2" charset="2"/>
              <a:buChar char="Ø"/>
              <a:defRPr sz="15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Training losses reduced during epochs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5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5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Validation losses became stable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5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5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Precision and recall improved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5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5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mAP50 and mAP50-95 also improved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5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5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Model shows good training after 100 epochs.</a:t>
            </a:r>
          </a:p>
        </p:txBody>
      </p:sp>
      <p:pic>
        <p:nvPicPr>
          <p:cNvPr id="7" name="Picture 6" descr="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097280"/>
            <a:ext cx="6720840" cy="468172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10698480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sz="2300" b="1">
                <a:solidFill>
                  <a:srgbClr val="1456A0"/>
                </a:solidFill>
                <a:latin typeface="Times New Roman" pitchFamily="18" charset="0"/>
                <a:cs typeface="Times New Roman" pitchFamily="18" charset="0"/>
              </a:rPr>
              <a:t>Precision-Recall Curve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86384"/>
            <a:ext cx="1417320" cy="36576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Ø"/>
            </a:pPr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5800" y="6007608"/>
            <a:ext cx="5669280" cy="2308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900" b="0">
                <a:solidFill>
                  <a:srgbClr val="5A6473"/>
                </a:solidFill>
                <a:latin typeface="Times New Roman" pitchFamily="18" charset="0"/>
                <a:cs typeface="Times New Roman" pitchFamily="18" charset="0"/>
              </a:rPr>
              <a:t>Precision-recall curve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20840" y="1188720"/>
            <a:ext cx="452628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32323"/>
                </a:solidFill>
                <a:latin typeface="Times New Roman" pitchFamily="18" charset="0"/>
                <a:cs typeface="Times New Roman" pitchFamily="18" charset="0"/>
              </a:rPr>
              <a:t>Overall mAP@0.5 is 0.947.</a:t>
            </a:r>
          </a:p>
          <a:p>
            <a:endParaRPr sz="1600">
              <a:latin typeface="Times New Roman" pitchFamily="18" charset="0"/>
              <a:cs typeface="Times New Roman" pitchFamily="18" charset="0"/>
            </a:endParaRPr>
          </a:p>
          <a:p>
            <a:r>
              <a:rPr sz="1600" b="0">
                <a:solidFill>
                  <a:srgbClr val="232323"/>
                </a:solidFill>
                <a:latin typeface="Times New Roman" pitchFamily="18" charset="0"/>
                <a:cs typeface="Times New Roman" pitchFamily="18" charset="0"/>
              </a:rPr>
              <a:t>UAV AP is 0.957.</a:t>
            </a:r>
          </a:p>
          <a:p>
            <a:endParaRPr sz="1600">
              <a:latin typeface="Times New Roman" pitchFamily="18" charset="0"/>
              <a:cs typeface="Times New Roman" pitchFamily="18" charset="0"/>
            </a:endParaRPr>
          </a:p>
          <a:p>
            <a:r>
              <a:rPr sz="1600" b="0">
                <a:solidFill>
                  <a:srgbClr val="232323"/>
                </a:solidFill>
                <a:latin typeface="Times New Roman" pitchFamily="18" charset="0"/>
                <a:cs typeface="Times New Roman" pitchFamily="18" charset="0"/>
              </a:rPr>
              <a:t>side-by-side rotor AP is 0.903.</a:t>
            </a:r>
          </a:p>
          <a:p>
            <a:endParaRPr sz="1600">
              <a:latin typeface="Times New Roman" pitchFamily="18" charset="0"/>
              <a:cs typeface="Times New Roman" pitchFamily="18" charset="0"/>
            </a:endParaRPr>
          </a:p>
          <a:p>
            <a:r>
              <a:rPr sz="1600" b="0">
                <a:solidFill>
                  <a:srgbClr val="232323"/>
                </a:solidFill>
                <a:latin typeface="Times New Roman" pitchFamily="18" charset="0"/>
                <a:cs typeface="Times New Roman" pitchFamily="18" charset="0"/>
              </a:rPr>
              <a:t>single rotor AP is 0.947.</a:t>
            </a:r>
          </a:p>
          <a:p>
            <a:endParaRPr sz="1600">
              <a:latin typeface="Times New Roman" pitchFamily="18" charset="0"/>
              <a:cs typeface="Times New Roman" pitchFamily="18" charset="0"/>
            </a:endParaRPr>
          </a:p>
          <a:p>
            <a:r>
              <a:rPr sz="1600" b="0">
                <a:solidFill>
                  <a:srgbClr val="232323"/>
                </a:solidFill>
                <a:latin typeface="Times New Roman" pitchFamily="18" charset="0"/>
                <a:cs typeface="Times New Roman" pitchFamily="18" charset="0"/>
              </a:rPr>
              <a:t>tandem rotor AP is 0.982.</a:t>
            </a:r>
          </a:p>
        </p:txBody>
      </p:sp>
      <p:pic>
        <p:nvPicPr>
          <p:cNvPr id="7" name="Picture 6" descr="PR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051560"/>
            <a:ext cx="5669280" cy="48920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10698480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sz="2300" b="1">
                <a:solidFill>
                  <a:srgbClr val="1456A0"/>
                </a:solidFill>
                <a:latin typeface="Times New Roman" pitchFamily="18" charset="0"/>
                <a:cs typeface="Times New Roman" pitchFamily="18" charset="0"/>
              </a:rPr>
              <a:t>F1 Confidence Curve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86384"/>
            <a:ext cx="1417320" cy="36576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Ø"/>
            </a:pPr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2610" y="6057401"/>
            <a:ext cx="5669280" cy="2308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900" b="0">
                <a:solidFill>
                  <a:srgbClr val="5A6473"/>
                </a:solidFill>
                <a:latin typeface="Times New Roman" pitchFamily="18" charset="0"/>
                <a:cs typeface="Times New Roman" pitchFamily="18" charset="0"/>
              </a:rPr>
              <a:t>F1-confidence curve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20840" y="1417320"/>
            <a:ext cx="448056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32323"/>
                </a:solidFill>
                <a:latin typeface="Times New Roman" pitchFamily="18" charset="0"/>
                <a:cs typeface="Times New Roman" pitchFamily="18" charset="0"/>
              </a:rPr>
              <a:t>Final F1 score is 0.93</a:t>
            </a:r>
            <a:r>
              <a:rPr sz="1600" b="0" smtClean="0">
                <a:solidFill>
                  <a:srgbClr val="232323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IN" sz="1600" b="0" dirty="0" smtClean="0">
              <a:solidFill>
                <a:srgbClr val="232323"/>
              </a:solidFill>
              <a:latin typeface="Times New Roman" pitchFamily="18" charset="0"/>
              <a:cs typeface="Times New Roman" pitchFamily="18" charset="0"/>
            </a:endParaRPr>
          </a:p>
          <a:p>
            <a:endParaRPr sz="1600" b="0">
              <a:solidFill>
                <a:srgbClr val="232323"/>
              </a:solidFill>
              <a:latin typeface="Times New Roman" pitchFamily="18" charset="0"/>
              <a:cs typeface="Times New Roman" pitchFamily="18" charset="0"/>
            </a:endParaRPr>
          </a:p>
          <a:p>
            <a:endParaRPr sz="1600">
              <a:latin typeface="Times New Roman" pitchFamily="18" charset="0"/>
              <a:cs typeface="Times New Roman" pitchFamily="18" charset="0"/>
            </a:endParaRPr>
          </a:p>
          <a:p>
            <a:r>
              <a:rPr sz="1600" b="0">
                <a:solidFill>
                  <a:srgbClr val="232323"/>
                </a:solidFill>
                <a:latin typeface="Times New Roman" pitchFamily="18" charset="0"/>
                <a:cs typeface="Times New Roman" pitchFamily="18" charset="0"/>
              </a:rPr>
              <a:t>The F1-confidence curve helps select a practical confidence threshold</a:t>
            </a:r>
            <a:r>
              <a:rPr sz="1600" b="0" smtClean="0">
                <a:solidFill>
                  <a:srgbClr val="232323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IN" sz="1600" b="0" dirty="0" smtClean="0">
              <a:solidFill>
                <a:srgbClr val="232323"/>
              </a:solidFill>
              <a:latin typeface="Times New Roman" pitchFamily="18" charset="0"/>
              <a:cs typeface="Times New Roman" pitchFamily="18" charset="0"/>
            </a:endParaRPr>
          </a:p>
          <a:p>
            <a:endParaRPr sz="1600" b="0">
              <a:solidFill>
                <a:srgbClr val="232323"/>
              </a:solidFill>
              <a:latin typeface="Times New Roman" pitchFamily="18" charset="0"/>
              <a:cs typeface="Times New Roman" pitchFamily="18" charset="0"/>
            </a:endParaRPr>
          </a:p>
          <a:p>
            <a:endParaRPr sz="1600">
              <a:latin typeface="Times New Roman" pitchFamily="18" charset="0"/>
              <a:cs typeface="Times New Roman" pitchFamily="18" charset="0"/>
            </a:endParaRPr>
          </a:p>
          <a:p>
            <a:r>
              <a:rPr sz="1600" b="0">
                <a:solidFill>
                  <a:srgbClr val="232323"/>
                </a:solidFill>
                <a:latin typeface="Times New Roman" pitchFamily="18" charset="0"/>
                <a:cs typeface="Times New Roman" pitchFamily="18" charset="0"/>
              </a:rPr>
              <a:t>F1 score balances precision and recall for alert decisions.</a:t>
            </a:r>
          </a:p>
        </p:txBody>
      </p:sp>
      <p:pic>
        <p:nvPicPr>
          <p:cNvPr id="7" name="Picture 6" descr="F1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051560"/>
            <a:ext cx="5669280" cy="48920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10698480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2300" b="1">
                <a:solidFill>
                  <a:srgbClr val="1456A0"/>
                </a:solidFill>
                <a:latin typeface="Times New Roman" pitchFamily="18" charset="0"/>
                <a:cs typeface="Times New Roman" pitchFamily="18" charset="0"/>
              </a:rPr>
              <a:t>Precision and Recall Curves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86384"/>
            <a:ext cx="1417320" cy="36576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5504688"/>
            <a:ext cx="5257800" cy="2308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900" b="0">
                <a:solidFill>
                  <a:srgbClr val="5A6473"/>
                </a:solidFill>
                <a:latin typeface="Times New Roman" pitchFamily="18" charset="0"/>
                <a:cs typeface="Times New Roman" pitchFamily="18" charset="0"/>
              </a:rPr>
              <a:t>Precision-confidence curve</a:t>
            </a:r>
          </a:p>
        </p:txBody>
      </p:sp>
      <p:pic>
        <p:nvPicPr>
          <p:cNvPr id="6" name="Picture 5" descr="R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097280"/>
            <a:ext cx="5257800" cy="4343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5833872"/>
            <a:ext cx="10424160" cy="307777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400" b="0">
                <a:solidFill>
                  <a:srgbClr val="2D323C"/>
                </a:solidFill>
                <a:latin typeface="Times New Roman" pitchFamily="18" charset="0"/>
                <a:cs typeface="Times New Roman" pitchFamily="18" charset="0"/>
              </a:rPr>
              <a:t>Higher confidence gives better precision, but very high confidence may reduce recall.</a:t>
            </a:r>
          </a:p>
        </p:txBody>
      </p:sp>
      <p:pic>
        <p:nvPicPr>
          <p:cNvPr id="9" name="Picture 8" descr="P_cur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097280"/>
            <a:ext cx="5257800" cy="4343400"/>
          </a:xfrm>
          <a:prstGeom prst="rect">
            <a:avLst/>
          </a:prstGeom>
        </p:spPr>
      </p:pic>
      <p:pic>
        <p:nvPicPr>
          <p:cNvPr id="10" name="Picture 9" descr="R_curv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5504688"/>
            <a:ext cx="5257800" cy="23083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10698480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buFont typeface="Wingdings" pitchFamily="2" charset="2"/>
              <a:buChar char="Ø"/>
            </a:pPr>
            <a:r>
              <a:rPr sz="2300" b="1">
                <a:solidFill>
                  <a:srgbClr val="1456A0"/>
                </a:solidFill>
                <a:latin typeface="Times New Roman" pitchFamily="18" charset="0"/>
                <a:cs typeface="Times New Roman" pitchFamily="18" charset="0"/>
              </a:rPr>
              <a:t>Flask Web Application Module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86384"/>
            <a:ext cx="1417320" cy="36576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 typeface="Wingdings" pitchFamily="2" charset="2"/>
              <a:buChar char="Ø"/>
            </a:pPr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6949440" cy="3129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Frontend page is used to upload image or recorded video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Flask backend receives the uploaded file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 smtClean="0">
                <a:latin typeface="Times New Roman" pitchFamily="18" charset="0"/>
                <a:cs typeface="Times New Roman" pitchFamily="18" charset="0"/>
              </a:rPr>
              <a:t>YOLO </a:t>
            </a:r>
            <a:r>
              <a:rPr>
                <a:latin typeface="Times New Roman" pitchFamily="18" charset="0"/>
                <a:cs typeface="Times New Roman" pitchFamily="18" charset="0"/>
              </a:rPr>
              <a:t>model runs detection on image or video frames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Output page shows detected object with bounding box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For video, system checks frame by frame and marks detected frames.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10698480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sz="2300" b="1">
                <a:solidFill>
                  <a:srgbClr val="1456A0"/>
                </a:solidFill>
                <a:latin typeface="Times New Roman" pitchFamily="18" charset="0"/>
                <a:cs typeface="Times New Roman" pitchFamily="18" charset="0"/>
              </a:rPr>
              <a:t>Alert and Voice Output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86384"/>
            <a:ext cx="1417320" cy="36576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Ø"/>
            </a:pPr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6949440" cy="3129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When an object is detected, the system speaks the object name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Example voice: UAV detected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The system also plays siren or alert sound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Voice and siren help security person notice the detection quickly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Alert should play only when confidence is above selected threshold.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10698480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2300" b="1">
                <a:solidFill>
                  <a:srgbClr val="1456A0"/>
                </a:solidFill>
                <a:latin typeface="Times New Roman" pitchFamily="18" charset="0"/>
                <a:cs typeface="Times New Roman" pitchFamily="18" charset="0"/>
              </a:rPr>
              <a:t>Frame Saving and Email Alert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86384"/>
            <a:ext cx="1417320" cy="36576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7132320" cy="3129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If object is detected, detected frame is saved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File name contains date and time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Saved frame is useful as proof for later checking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Email alert sends the detected frame to security email address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Email message contains object name, confidence and detected time.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417320"/>
            <a:ext cx="2084831" cy="841248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156448" y="1508760"/>
            <a:ext cx="1847088" cy="21544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800" b="1">
                <a:solidFill>
                  <a:srgbClr val="5A6473"/>
                </a:solidFill>
                <a:latin typeface="Times New Roman" pitchFamily="18" charset="0"/>
                <a:cs typeface="Times New Roman" pitchFamily="18" charset="0"/>
              </a:rPr>
              <a:t>Save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56448" y="1764792"/>
            <a:ext cx="1847088" cy="33855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600" b="1">
                <a:solidFill>
                  <a:srgbClr val="1456A0"/>
                </a:solidFill>
                <a:latin typeface="Times New Roman" pitchFamily="18" charset="0"/>
                <a:cs typeface="Times New Roman" pitchFamily="18" charset="0"/>
              </a:rPr>
              <a:t>Frame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578608"/>
            <a:ext cx="2084831" cy="841248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156448" y="2670048"/>
            <a:ext cx="1847088" cy="21544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800" b="1">
                <a:solidFill>
                  <a:srgbClr val="5A6473"/>
                </a:solidFill>
                <a:latin typeface="Times New Roman" pitchFamily="18" charset="0"/>
                <a:cs typeface="Times New Roman" pitchFamily="18" charset="0"/>
              </a:rPr>
              <a:t>File 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56448" y="2926079"/>
            <a:ext cx="1847088" cy="33855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600" b="1">
                <a:solidFill>
                  <a:srgbClr val="2A8C5C"/>
                </a:solidFill>
                <a:latin typeface="Times New Roman" pitchFamily="18" charset="0"/>
                <a:cs typeface="Times New Roman" pitchFamily="18" charset="0"/>
              </a:rPr>
              <a:t>Date 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730752"/>
            <a:ext cx="2084831" cy="841248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156448" y="3822191"/>
            <a:ext cx="1847088" cy="21544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800" b="1">
                <a:solidFill>
                  <a:srgbClr val="5A6473"/>
                </a:solidFill>
                <a:latin typeface="Times New Roman" pitchFamily="18" charset="0"/>
                <a:cs typeface="Times New Roman" pitchFamily="18" charset="0"/>
              </a:rPr>
              <a:t>Alert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6448" y="4078224"/>
            <a:ext cx="1847088" cy="33855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600" b="1">
                <a:solidFill>
                  <a:srgbClr val="BE3737"/>
                </a:solidFill>
                <a:latin typeface="Times New Roman" pitchFamily="18" charset="0"/>
                <a:cs typeface="Times New Roman" pitchFamily="18" charset="0"/>
              </a:rPr>
              <a:t>Email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10698480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2300" b="1">
                <a:solidFill>
                  <a:srgbClr val="1456A0"/>
                </a:solidFill>
                <a:latin typeface="Times New Roman" pitchFamily="18" charset="0"/>
                <a:cs typeface="Times New Roman" pitchFamily="18" charset="0"/>
              </a:rPr>
              <a:t>Current System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86384"/>
            <a:ext cx="1417320" cy="36576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02920" y="2514600"/>
            <a:ext cx="1417320" cy="749808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14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9496" y="2743200"/>
            <a:ext cx="1344168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900" b="1">
                <a:solidFill>
                  <a:srgbClr val="2D323C"/>
                </a:solidFill>
                <a:latin typeface="Times New Roman" pitchFamily="18" charset="0"/>
                <a:cs typeface="Times New Roman" pitchFamily="18" charset="0"/>
              </a:rPr>
              <a:t>Upload Image / Video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920240" y="2889504"/>
            <a:ext cx="411480" cy="0"/>
          </a:xfrm>
          <a:prstGeom prst="line">
            <a:avLst/>
          </a:prstGeom>
          <a:ln w="25400">
            <a:solidFill>
              <a:srgbClr val="145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331720" y="2514600"/>
            <a:ext cx="1188720" cy="749808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14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368296" y="2743200"/>
            <a:ext cx="1115568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900" b="1">
                <a:solidFill>
                  <a:srgbClr val="2D323C"/>
                </a:solidFill>
                <a:latin typeface="Times New Roman" pitchFamily="18" charset="0"/>
                <a:cs typeface="Times New Roman" pitchFamily="18" charset="0"/>
              </a:rPr>
              <a:t>Flask App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520439" y="2889504"/>
            <a:ext cx="457200" cy="0"/>
          </a:xfrm>
          <a:prstGeom prst="line">
            <a:avLst/>
          </a:prstGeom>
          <a:ln w="25400">
            <a:solidFill>
              <a:srgbClr val="145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977639" y="2514600"/>
            <a:ext cx="1325880" cy="749808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14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014215" y="2743200"/>
            <a:ext cx="1252728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900" b="1">
                <a:solidFill>
                  <a:srgbClr val="2D323C"/>
                </a:solidFill>
                <a:latin typeface="Times New Roman" pitchFamily="18" charset="0"/>
                <a:cs typeface="Times New Roman" pitchFamily="18" charset="0"/>
              </a:rPr>
              <a:t>YOLOv8 Model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303520" y="2889504"/>
            <a:ext cx="365760" cy="0"/>
          </a:xfrm>
          <a:prstGeom prst="line">
            <a:avLst/>
          </a:prstGeom>
          <a:ln w="25400">
            <a:solidFill>
              <a:srgbClr val="145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669280" y="2514600"/>
            <a:ext cx="1325880" cy="749808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14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705856" y="2743200"/>
            <a:ext cx="1252728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900" b="1">
                <a:solidFill>
                  <a:srgbClr val="2D323C"/>
                </a:solidFill>
                <a:latin typeface="Times New Roman" pitchFamily="18" charset="0"/>
                <a:cs typeface="Times New Roman" pitchFamily="18" charset="0"/>
              </a:rPr>
              <a:t>Detected Output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995160" y="2889504"/>
            <a:ext cx="365760" cy="0"/>
          </a:xfrm>
          <a:prstGeom prst="line">
            <a:avLst/>
          </a:prstGeom>
          <a:ln w="25400">
            <a:solidFill>
              <a:srgbClr val="145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360920" y="2514600"/>
            <a:ext cx="1325880" cy="749808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14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97496" y="2743200"/>
            <a:ext cx="1252728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900" b="1">
                <a:solidFill>
                  <a:srgbClr val="2D323C"/>
                </a:solidFill>
                <a:latin typeface="Times New Roman" pitchFamily="18" charset="0"/>
                <a:cs typeface="Times New Roman" pitchFamily="18" charset="0"/>
              </a:rPr>
              <a:t>Voice + Siren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686800" y="2889504"/>
            <a:ext cx="457200" cy="0"/>
          </a:xfrm>
          <a:prstGeom prst="line">
            <a:avLst/>
          </a:prstGeom>
          <a:ln w="25400">
            <a:solidFill>
              <a:srgbClr val="145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144000" y="2514600"/>
            <a:ext cx="1691640" cy="749808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14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180576" y="2743200"/>
            <a:ext cx="1618488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900" b="1">
                <a:solidFill>
                  <a:srgbClr val="2D323C"/>
                </a:solidFill>
                <a:latin typeface="Times New Roman" pitchFamily="18" charset="0"/>
                <a:cs typeface="Times New Roman" pitchFamily="18" charset="0"/>
              </a:rPr>
              <a:t>Save Frame + Email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251960"/>
            <a:ext cx="10149840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500" b="0">
                <a:solidFill>
                  <a:srgbClr val="2D323C"/>
                </a:solidFill>
                <a:latin typeface="Times New Roman" pitchFamily="18" charset="0"/>
                <a:cs typeface="Times New Roman" pitchFamily="18" charset="0"/>
              </a:rPr>
              <a:t>The same flow is used for uploaded image and recorded video testing.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456A0"/>
                </a:solidFill>
                <a:latin typeface="Calibri"/>
              </a:rPr>
              <a:t>Video Testing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86384"/>
            <a:ext cx="1417320" cy="36576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Output_Recording 2026-06-16 223957.wmv">
            <a:hlinkClick r:id="" action="ppaction://media"/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669079" y="1387679"/>
            <a:ext cx="8549042" cy="4352384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669079" y="1645920"/>
            <a:ext cx="8549042" cy="4088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10698480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lang="en-IN" sz="2300" b="1" dirty="0" smtClean="0">
                <a:solidFill>
                  <a:srgbClr val="1456A0"/>
                </a:solidFill>
                <a:latin typeface="Times New Roman" pitchFamily="18" charset="0"/>
                <a:cs typeface="Times New Roman" pitchFamily="18" charset="0"/>
              </a:rPr>
              <a:t>Implementation</a:t>
            </a:r>
            <a:endParaRPr sz="2300" b="1">
              <a:solidFill>
                <a:srgbClr val="1456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30352" y="786384"/>
            <a:ext cx="1417320" cy="36576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713232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sz="1600" b="0">
                <a:solidFill>
                  <a:srgbClr val="232323"/>
                </a:solidFill>
                <a:latin typeface="Times New Roman" pitchFamily="18" charset="0"/>
                <a:cs typeface="Times New Roman" pitchFamily="18" charset="0"/>
              </a:rPr>
              <a:t>Dataset prepared for 4 UAV object classes</a:t>
            </a:r>
            <a:r>
              <a:rPr sz="1600" b="0" smtClean="0">
                <a:solidFill>
                  <a:srgbClr val="232323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IN" sz="1600" b="0" dirty="0" smtClean="0">
              <a:solidFill>
                <a:srgbClr val="232323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endParaRPr sz="1600" b="0">
              <a:solidFill>
                <a:srgbClr val="232323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endParaRPr sz="160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sz="1600" b="0">
                <a:solidFill>
                  <a:srgbClr val="232323"/>
                </a:solidFill>
                <a:latin typeface="Times New Roman" pitchFamily="18" charset="0"/>
                <a:cs typeface="Times New Roman" pitchFamily="18" charset="0"/>
              </a:rPr>
              <a:t>Dataset visualization and sample images verified</a:t>
            </a:r>
            <a:r>
              <a:rPr sz="1600" b="0" smtClean="0">
                <a:solidFill>
                  <a:srgbClr val="232323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IN" sz="1600" b="0" dirty="0" smtClean="0">
              <a:solidFill>
                <a:srgbClr val="232323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endParaRPr sz="1600" b="0">
              <a:solidFill>
                <a:srgbClr val="232323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endParaRPr sz="160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sz="1600" b="0">
                <a:solidFill>
                  <a:srgbClr val="232323"/>
                </a:solidFill>
                <a:latin typeface="Times New Roman" pitchFamily="18" charset="0"/>
                <a:cs typeface="Times New Roman" pitchFamily="18" charset="0"/>
              </a:rPr>
              <a:t>YOLOv8, SSD and Faster R-CNN notebooks executed and compared</a:t>
            </a:r>
            <a:r>
              <a:rPr sz="1600" b="0" smtClean="0">
                <a:solidFill>
                  <a:srgbClr val="232323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IN" sz="1600" b="0" dirty="0" smtClean="0">
              <a:solidFill>
                <a:srgbClr val="232323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endParaRPr sz="1600" b="0">
              <a:solidFill>
                <a:srgbClr val="232323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endParaRPr sz="160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sz="1600" b="0">
                <a:solidFill>
                  <a:srgbClr val="232323"/>
                </a:solidFill>
                <a:latin typeface="Times New Roman" pitchFamily="18" charset="0"/>
                <a:cs typeface="Times New Roman" pitchFamily="18" charset="0"/>
              </a:rPr>
              <a:t>YOLOv8 achieved the best overall result with mAP50 0.9471</a:t>
            </a:r>
            <a:r>
              <a:rPr sz="1600" b="0" smtClean="0">
                <a:solidFill>
                  <a:srgbClr val="232323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IN" sz="1600" b="0" dirty="0" smtClean="0">
              <a:solidFill>
                <a:srgbClr val="232323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endParaRPr sz="1600" b="0">
              <a:solidFill>
                <a:srgbClr val="232323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endParaRPr sz="160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sz="1600" b="0">
                <a:solidFill>
                  <a:srgbClr val="232323"/>
                </a:solidFill>
                <a:latin typeface="Times New Roman" pitchFamily="18" charset="0"/>
                <a:cs typeface="Times New Roman" pitchFamily="18" charset="0"/>
              </a:rPr>
              <a:t>Flask based detection and alert workflow is ready for video testing.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417320"/>
            <a:ext cx="2084831" cy="841248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156448" y="1508760"/>
            <a:ext cx="1847088" cy="21544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800" b="1">
                <a:solidFill>
                  <a:srgbClr val="5A6473"/>
                </a:solidFill>
                <a:latin typeface="Times New Roman" pitchFamily="18" charset="0"/>
                <a:cs typeface="Times New Roman" pitchFamily="18" charset="0"/>
              </a:rPr>
              <a:t>Classes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56448" y="1764792"/>
            <a:ext cx="1847088" cy="33855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600" b="1">
                <a:solidFill>
                  <a:srgbClr val="1456A0"/>
                </a:solidFill>
                <a:latin typeface="Times New Roman" pitchFamily="18" charset="0"/>
                <a:cs typeface="Times New Roman" pitchFamily="18" charset="0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578608"/>
            <a:ext cx="2084831" cy="841248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156448" y="2670048"/>
            <a:ext cx="1847088" cy="21544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800" b="1">
                <a:solidFill>
                  <a:srgbClr val="5A6473"/>
                </a:solidFill>
                <a:latin typeface="Times New Roman" pitchFamily="18" charset="0"/>
                <a:cs typeface="Times New Roman" pitchFamily="18" charset="0"/>
              </a:rPr>
              <a:t>mAP50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56448" y="2926079"/>
            <a:ext cx="1847088" cy="430887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2200" b="1">
                <a:solidFill>
                  <a:srgbClr val="1456A0"/>
                </a:solidFill>
                <a:latin typeface="Times New Roman" pitchFamily="18" charset="0"/>
                <a:cs typeface="Times New Roman" pitchFamily="18" charset="0"/>
              </a:rPr>
              <a:t>0.947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730752"/>
            <a:ext cx="2084831" cy="841248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156448" y="3822191"/>
            <a:ext cx="1847088" cy="21544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800" b="1">
                <a:solidFill>
                  <a:srgbClr val="5A6473"/>
                </a:solidFill>
                <a:latin typeface="Times New Roman" pitchFamily="18" charset="0"/>
                <a:cs typeface="Times New Roman" pitchFamily="18" charset="0"/>
              </a:rPr>
              <a:t>Alert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6448" y="4078224"/>
            <a:ext cx="1847088" cy="33855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600" b="1">
                <a:solidFill>
                  <a:srgbClr val="BE3737"/>
                </a:solidFill>
                <a:latin typeface="Times New Roman" pitchFamily="18" charset="0"/>
                <a:cs typeface="Times New Roman" pitchFamily="18" charset="0"/>
              </a:rPr>
              <a:t>Defined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10698480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2300" b="1">
                <a:solidFill>
                  <a:srgbClr val="1456A0"/>
                </a:solidFill>
                <a:latin typeface="Times New Roman" pitchFamily="18" charset="0"/>
                <a:cs typeface="Times New Roman" pitchFamily="18" charset="0"/>
              </a:rPr>
              <a:t>Limitations and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86384"/>
            <a:ext cx="1417320" cy="36576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7223760" cy="3826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side-by-side rotor class needs more training images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False alerts should be reduced by adding more background images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More testing is needed with different videos and camera angles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Complete Flask web page design and upload testing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Integrate voice output, siren sound and email alert fully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Improve model using more real surveillance 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417320"/>
            <a:ext cx="2084831" cy="841248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156448" y="1508760"/>
            <a:ext cx="1847088" cy="21544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800" b="1">
                <a:solidFill>
                  <a:srgbClr val="5A6473"/>
                </a:solidFill>
                <a:latin typeface="Times New Roman" pitchFamily="18" charset="0"/>
                <a:cs typeface="Times New Roman" pitchFamily="18" charset="0"/>
              </a:rPr>
              <a:t>Improve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56448" y="1764792"/>
            <a:ext cx="1847088" cy="33855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600" b="1">
                <a:solidFill>
                  <a:srgbClr val="1456A0"/>
                </a:solidFill>
                <a:latin typeface="Times New Roman" pitchFamily="18" charset="0"/>
                <a:cs typeface="Times New Roman" pitchFamily="18" charset="0"/>
              </a:rPr>
              <a:t>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578608"/>
            <a:ext cx="2084831" cy="841248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156448" y="2670048"/>
            <a:ext cx="1847088" cy="21544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800" b="1">
                <a:solidFill>
                  <a:srgbClr val="5A6473"/>
                </a:solidFill>
                <a:latin typeface="Times New Roman" pitchFamily="18" charset="0"/>
                <a:cs typeface="Times New Roman" pitchFamily="18" charset="0"/>
              </a:rPr>
              <a:t>Reduce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56448" y="2926079"/>
            <a:ext cx="1847088" cy="33855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600" b="1">
                <a:solidFill>
                  <a:srgbClr val="BE3737"/>
                </a:solidFill>
                <a:latin typeface="Times New Roman" pitchFamily="18" charset="0"/>
                <a:cs typeface="Times New Roman" pitchFamily="18" charset="0"/>
              </a:rPr>
              <a:t>False Alert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730752"/>
            <a:ext cx="2084831" cy="841248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156448" y="3822191"/>
            <a:ext cx="1847088" cy="21544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800" b="1">
                <a:solidFill>
                  <a:srgbClr val="5A6473"/>
                </a:solidFill>
                <a:latin typeface="Times New Roman" pitchFamily="18" charset="0"/>
                <a:cs typeface="Times New Roman" pitchFamily="18" charset="0"/>
              </a:rPr>
              <a:t>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6448" y="4078224"/>
            <a:ext cx="1847088" cy="33855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600" b="1">
                <a:solidFill>
                  <a:srgbClr val="2A8C5C"/>
                </a:solidFill>
                <a:latin typeface="Times New Roman" pitchFamily="18" charset="0"/>
                <a:cs typeface="Times New Roman" pitchFamily="18" charset="0"/>
              </a:rPr>
              <a:t>Videos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10698480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2300" b="1">
                <a:solidFill>
                  <a:srgbClr val="1456A0"/>
                </a:solidFill>
                <a:latin typeface="Times New Roman" pitchFamily="18" charset="0"/>
                <a:cs typeface="Times New Roman" pitchFamily="18" charset="0"/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86384"/>
            <a:ext cx="1417320" cy="36576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1381583"/>
            <a:ext cx="73152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32323"/>
                </a:solidFill>
                <a:latin typeface="Times New Roman" pitchFamily="18" charset="0"/>
                <a:cs typeface="Times New Roman" pitchFamily="18" charset="0"/>
              </a:rPr>
              <a:t>The trained YOLOv8 model gives the strongest object detection result in this project.</a:t>
            </a:r>
          </a:p>
          <a:p>
            <a:endParaRPr lang="en-IN" sz="1600" dirty="0" smtClean="0">
              <a:latin typeface="Times New Roman" pitchFamily="18" charset="0"/>
              <a:cs typeface="Times New Roman" pitchFamily="18" charset="0"/>
            </a:endParaRPr>
          </a:p>
          <a:p>
            <a:endParaRPr sz="1600">
              <a:latin typeface="Times New Roman" pitchFamily="18" charset="0"/>
              <a:cs typeface="Times New Roman" pitchFamily="18" charset="0"/>
            </a:endParaRPr>
          </a:p>
          <a:p>
            <a:r>
              <a:rPr sz="1600" b="0">
                <a:solidFill>
                  <a:srgbClr val="232323"/>
                </a:solidFill>
                <a:latin typeface="Times New Roman" pitchFamily="18" charset="0"/>
                <a:cs typeface="Times New Roman" pitchFamily="18" charset="0"/>
              </a:rPr>
              <a:t>mAP50 reached 0.9471, precision reached 0.9487, and recall reached 0.912</a:t>
            </a:r>
            <a:r>
              <a:rPr sz="1600" b="0" smtClean="0">
                <a:solidFill>
                  <a:srgbClr val="232323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IN" sz="1600" b="0" dirty="0" smtClean="0">
              <a:solidFill>
                <a:srgbClr val="232323"/>
              </a:solidFill>
              <a:latin typeface="Times New Roman" pitchFamily="18" charset="0"/>
              <a:cs typeface="Times New Roman" pitchFamily="18" charset="0"/>
            </a:endParaRPr>
          </a:p>
          <a:p>
            <a:endParaRPr sz="1600" b="0">
              <a:solidFill>
                <a:srgbClr val="232323"/>
              </a:solidFill>
              <a:latin typeface="Times New Roman" pitchFamily="18" charset="0"/>
              <a:cs typeface="Times New Roman" pitchFamily="18" charset="0"/>
            </a:endParaRPr>
          </a:p>
          <a:p>
            <a:endParaRPr sz="1600">
              <a:latin typeface="Times New Roman" pitchFamily="18" charset="0"/>
              <a:cs typeface="Times New Roman" pitchFamily="18" charset="0"/>
            </a:endParaRPr>
          </a:p>
          <a:p>
            <a:r>
              <a:rPr sz="1600" b="0">
                <a:solidFill>
                  <a:srgbClr val="232323"/>
                </a:solidFill>
                <a:latin typeface="Times New Roman" pitchFamily="18" charset="0"/>
                <a:cs typeface="Times New Roman" pitchFamily="18" charset="0"/>
              </a:rPr>
              <a:t>SSD works as a fast class-agnostic UAV baseline, while Faster R-CNN is slower and lower scoring in this run</a:t>
            </a:r>
            <a:r>
              <a:rPr sz="1600" b="0" smtClean="0">
                <a:solidFill>
                  <a:srgbClr val="232323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IN" sz="1600" b="0" dirty="0" smtClean="0">
              <a:solidFill>
                <a:srgbClr val="232323"/>
              </a:solidFill>
              <a:latin typeface="Times New Roman" pitchFamily="18" charset="0"/>
              <a:cs typeface="Times New Roman" pitchFamily="18" charset="0"/>
            </a:endParaRPr>
          </a:p>
          <a:p>
            <a:endParaRPr sz="1600" b="0">
              <a:solidFill>
                <a:srgbClr val="232323"/>
              </a:solidFill>
              <a:latin typeface="Times New Roman" pitchFamily="18" charset="0"/>
              <a:cs typeface="Times New Roman" pitchFamily="18" charset="0"/>
            </a:endParaRPr>
          </a:p>
          <a:p>
            <a:endParaRPr sz="1600">
              <a:latin typeface="Times New Roman" pitchFamily="18" charset="0"/>
              <a:cs typeface="Times New Roman" pitchFamily="18" charset="0"/>
            </a:endParaRPr>
          </a:p>
          <a:p>
            <a:r>
              <a:rPr sz="1600" b="0">
                <a:solidFill>
                  <a:srgbClr val="232323"/>
                </a:solidFill>
                <a:latin typeface="Times New Roman" pitchFamily="18" charset="0"/>
                <a:cs typeface="Times New Roman" pitchFamily="18" charset="0"/>
              </a:rPr>
              <a:t>The Flask web application with voice, siren, frame save and email alert makes the system useful for UAV security surveillance.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92440" y="1463040"/>
            <a:ext cx="2084831" cy="841248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02167" y="1554480"/>
            <a:ext cx="1847088" cy="21544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800" b="1">
                <a:solidFill>
                  <a:srgbClr val="5A6473"/>
                </a:solidFill>
                <a:latin typeface="Times New Roman" pitchFamily="18" charset="0"/>
                <a:cs typeface="Times New Roman" pitchFamily="18" charset="0"/>
              </a:rPr>
              <a:t>mAP50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02167" y="1810512"/>
            <a:ext cx="1847088" cy="33855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2200" b="1">
                <a:solidFill>
                  <a:srgbClr val="1456A0"/>
                </a:solidFill>
                <a:latin typeface="Calibri"/>
              </a:rPr>
              <a:t>0.947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2633472"/>
            <a:ext cx="2084831" cy="841248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02167" y="2724912"/>
            <a:ext cx="1847088" cy="21544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800" b="1">
                <a:solidFill>
                  <a:srgbClr val="5A6473"/>
                </a:solidFill>
                <a:latin typeface="Times New Roman" pitchFamily="18" charset="0"/>
                <a:cs typeface="Times New Roman" pitchFamily="18" charset="0"/>
              </a:rPr>
              <a:t>Best F1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02167" y="2980944"/>
            <a:ext cx="1847088" cy="33855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2200" b="1">
                <a:solidFill>
                  <a:srgbClr val="1456A0"/>
                </a:solidFill>
                <a:latin typeface="Calibri"/>
              </a:rPr>
              <a:t>0.93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3794760"/>
            <a:ext cx="2084831" cy="841248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02167" y="3886200"/>
            <a:ext cx="1847088" cy="21544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800" b="1">
                <a:solidFill>
                  <a:srgbClr val="5A6473"/>
                </a:solidFill>
                <a:latin typeface="Times New Roman" pitchFamily="18" charset="0"/>
                <a:cs typeface="Times New Roman" pitchFamily="18" charset="0"/>
              </a:rPr>
              <a:t>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02167" y="4142232"/>
            <a:ext cx="1847088" cy="33855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600" b="1">
                <a:solidFill>
                  <a:srgbClr val="BE3737"/>
                </a:solidFill>
                <a:latin typeface="Times New Roman" pitchFamily="18" charset="0"/>
                <a:cs typeface="Times New Roman" pitchFamily="18" charset="0"/>
              </a:rPr>
              <a:t>Web Alert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1626</Words>
  <Application>Microsoft Macintosh PowerPoint</Application>
  <PresentationFormat>Custom</PresentationFormat>
  <Paragraphs>410</Paragraphs>
  <Slides>26</Slides>
  <Notes>25</Notes>
  <HiddenSlides>0</HiddenSlides>
  <MMClips>1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/>
  <cp:keywords/>
  <dc:description>generated using python-pptx</dc:description>
  <cp:lastModifiedBy>Nagasrinu Goriparthi</cp:lastModifiedBy>
  <cp:revision>76</cp:revision>
  <dcterms:created xsi:type="dcterms:W3CDTF">2013-01-27T09:14:16Z</dcterms:created>
  <dcterms:modified xsi:type="dcterms:W3CDTF">2026-06-23T14:15:41Z</dcterms:modified>
  <cp:category/>
</cp:coreProperties>
</file>